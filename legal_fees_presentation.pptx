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1371600"/>
          </a:xfrm>
          <a:prstGeom prst="rect">
            <a:avLst/>
          </a:prstGeom>
          <a:noFill/>
        </p:spPr>
        <p:txBody>
          <a:bodyPr wrap="none">
            <a:spAutoFit/>
          </a:bodyPr>
          <a:lstStyle/>
          <a:p>
            <a:pPr algn="ctr">
              <a:defRPr sz="5400" b="1">
                <a:solidFill>
                  <a:srgbClr val="003366"/>
                </a:solidFill>
              </a:defRPr>
            </a:pPr>
            <a:r>
              <a:t>Global Legal Fees Research</a:t>
            </a:r>
          </a:p>
        </p:txBody>
      </p:sp>
      <p:sp>
        <p:nvSpPr>
          <p:cNvPr id="3" name="TextBox 2"/>
          <p:cNvSpPr txBox="1"/>
          <p:nvPr/>
        </p:nvSpPr>
        <p:spPr>
          <a:xfrm>
            <a:off x="457200" y="3840480"/>
            <a:ext cx="8229600" cy="914400"/>
          </a:xfrm>
          <a:prstGeom prst="rect">
            <a:avLst/>
          </a:prstGeom>
          <a:noFill/>
        </p:spPr>
        <p:txBody>
          <a:bodyPr wrap="none">
            <a:spAutoFit/>
          </a:bodyPr>
          <a:lstStyle/>
          <a:p>
            <a:pPr algn="ctr">
              <a:defRPr sz="2400">
                <a:solidFill>
                  <a:srgbClr val="0070C0"/>
                </a:solidFill>
              </a:defRPr>
            </a:pPr>
            <a:r>
              <a:t> Comprehensive Analysis of Court Document Sources</a:t>
            </a:r>
          </a:p>
          <a:p>
            <a:r>
              <a:t>Date: November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Executive Summary</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Research Scope</a:t>
            </a:r>
          </a:p>
          <a:p>
            <a:pPr>
              <a:spcAft>
                <a:spcPts val="600"/>
              </a:spcAft>
              <a:defRPr sz="1600" b="1">
                <a:solidFill>
                  <a:srgbClr val="333333"/>
                </a:solidFill>
              </a:defRPr>
            </a:pPr>
            <a:r>
              <a:t>  - Total Sources: 125+ databases and resources</a:t>
            </a:r>
          </a:p>
          <a:p>
            <a:pPr>
              <a:spcAft>
                <a:spcPts val="600"/>
              </a:spcAft>
              <a:defRPr sz="1600" b="1">
                <a:solidFill>
                  <a:srgbClr val="333333"/>
                </a:solidFill>
              </a:defRPr>
            </a:pPr>
            <a:r>
              <a:t>  - Geographic Coverage: 105+ jurisdictions worldwide</a:t>
            </a:r>
          </a:p>
          <a:p>
            <a:pPr>
              <a:spcAft>
                <a:spcPts val="600"/>
              </a:spcAft>
              <a:defRPr sz="1600" b="1">
                <a:solidFill>
                  <a:srgbClr val="333333"/>
                </a:solidFill>
              </a:defRPr>
            </a:pPr>
            <a:r>
              <a:t>  - Total Cases: 5-7 million+ across all databases</a:t>
            </a:r>
          </a:p>
          <a:p>
            <a:pPr>
              <a:spcAft>
                <a:spcPts val="600"/>
              </a:spcAft>
              <a:defRPr sz="1600" b="1">
                <a:solidFill>
                  <a:srgbClr val="333333"/>
                </a:solidFill>
              </a:defRPr>
            </a:pPr>
            <a:r>
              <a:t>  - Regions Covered: 7 major regions (Europe, Asia, Oceania, Africa, North America, South America, Caribbean)</a:t>
            </a:r>
          </a:p>
          <a:p>
            <a:pPr>
              <a:spcAft>
                <a:spcPts val="600"/>
              </a:spcAft>
              <a:defRPr sz="1600">
                <a:solidFill>
                  <a:srgbClr val="333333"/>
                </a:solidFill>
              </a:defRPr>
            </a:pPr>
            <a:r>
              <a:t>Key Achievement</a:t>
            </a:r>
          </a:p>
          <a:p>
            <a:pPr>
              <a:spcAft>
                <a:spcPts val="600"/>
              </a:spcAft>
              <a:defRPr sz="1600" b="1">
                <a:solidFill>
                  <a:srgbClr val="333333"/>
                </a:solidFill>
              </a:defRPr>
            </a:pPr>
            <a:r>
              <a:t>Successfully identified and catalogued comprehensive legal fee data sources spanning six continents with varying levels of accessibility and data richness.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Research Highlights by Numbers</a:t>
            </a:r>
          </a:p>
        </p:txBody>
      </p:sp>
      <p:graphicFrame>
        <p:nvGraphicFramePr>
          <p:cNvPr id="3" name="Table 2"/>
          <p:cNvGraphicFramePr>
            <a:graphicFrameLocks noGrp="1"/>
          </p:cNvGraphicFramePr>
          <p:nvPr/>
        </p:nvGraphicFramePr>
        <p:xfrm>
          <a:off x="457200" y="1645920"/>
          <a:ext cx="8229600" cy="4572000"/>
        </p:xfrm>
        <a:graphic>
          <a:graphicData uri="http://schemas.openxmlformats.org/drawingml/2006/table">
            <a:tbl>
              <a:tblPr firstRow="1" bandRow="1">
                <a:tableStyleId>{5C22544A-7EE6-4342-B048-85BDC9FD1C3A}</a:tableStyleId>
              </a:tblPr>
              <a:tblGrid>
                <a:gridCol w="2743200"/>
                <a:gridCol w="2743200"/>
                <a:gridCol w="2743200"/>
              </a:tblGrid>
              <a:tr h="1143000">
                <a:tc>
                  <a:txBody>
                    <a:bodyPr/>
                    <a:lstStyle/>
                    <a:p>
                      <a:pPr algn="ctr">
                        <a:defRPr b="1" sz="1400">
                          <a:solidFill>
                            <a:srgbClr val="FFFFFF"/>
                          </a:solidFill>
                        </a:defRPr>
                      </a:pPr>
                      <a:r>
                        <a:t>Scrapability Range</a:t>
                      </a:r>
                    </a:p>
                  </a:txBody>
                  <a:tcPr>
                    <a:solidFill>
                      <a:srgbClr val="003366"/>
                    </a:solidFill>
                  </a:tcPr>
                </a:tc>
                <a:tc>
                  <a:txBody>
                    <a:bodyPr/>
                    <a:lstStyle/>
                    <a:p>
                      <a:pPr algn="ctr">
                        <a:defRPr b="1" sz="1400">
                          <a:solidFill>
                            <a:srgbClr val="FFFFFF"/>
                          </a:solidFill>
                        </a:defRPr>
                      </a:pPr>
                      <a:r>
                        <a:t>Number of Sources</a:t>
                      </a:r>
                    </a:p>
                  </a:txBody>
                  <a:tcPr>
                    <a:solidFill>
                      <a:srgbClr val="003366"/>
                    </a:solidFill>
                  </a:tcPr>
                </a:tc>
                <a:tc>
                  <a:txBody>
                    <a:bodyPr/>
                    <a:lstStyle/>
                    <a:p>
                      <a:pPr algn="ctr">
                        <a:defRPr b="1" sz="1400">
                          <a:solidFill>
                            <a:srgbClr val="FFFFFF"/>
                          </a:solidFill>
                        </a:defRPr>
                      </a:pPr>
                      <a:r>
                        <a:t>Percentage</a:t>
                      </a:r>
                    </a:p>
                  </a:txBody>
                  <a:tcPr>
                    <a:solidFill>
                      <a:srgbClr val="003366"/>
                    </a:solidFill>
                  </a:tcPr>
                </a:tc>
              </a:tr>
              <a:tr h="1143000">
                <a:tc>
                  <a:txBody>
                    <a:bodyPr/>
                    <a:lstStyle/>
                    <a:p>
                      <a:pPr>
                        <a:defRPr sz="1200">
                          <a:solidFill>
                            <a:srgbClr val="333333"/>
                          </a:solidFill>
                        </a:defRPr>
                      </a:pPr>
                      <a:r>
                        <a:t>**High (60-85%)**</a:t>
                      </a:r>
                    </a:p>
                  </a:txBody>
                  <a:tcPr/>
                </a:tc>
                <a:tc>
                  <a:txBody>
                    <a:bodyPr/>
                    <a:lstStyle/>
                    <a:p>
                      <a:pPr>
                        <a:defRPr sz="1200">
                          <a:solidFill>
                            <a:srgbClr val="333333"/>
                          </a:solidFill>
                        </a:defRPr>
                      </a:pPr>
                      <a:r>
                        <a:t>~25 sources</a:t>
                      </a:r>
                    </a:p>
                  </a:txBody>
                  <a:tcPr/>
                </a:tc>
                <a:tc>
                  <a:txBody>
                    <a:bodyPr/>
                    <a:lstStyle/>
                    <a:p>
                      <a:pPr>
                        <a:defRPr sz="1200">
                          <a:solidFill>
                            <a:srgbClr val="333333"/>
                          </a:solidFill>
                        </a:defRPr>
                      </a:pPr>
                      <a:r>
                        <a:t>~20%</a:t>
                      </a:r>
                    </a:p>
                  </a:txBody>
                  <a:tcPr/>
                </a:tc>
              </a:tr>
              <a:tr h="1143000">
                <a:tc>
                  <a:txBody>
                    <a:bodyPr/>
                    <a:lstStyle/>
                    <a:p>
                      <a:pPr>
                        <a:defRPr sz="1200">
                          <a:solidFill>
                            <a:srgbClr val="333333"/>
                          </a:solidFill>
                        </a:defRPr>
                      </a:pPr>
                      <a:r>
                        <a:t>**Medium (30-60%)**</a:t>
                      </a:r>
                    </a:p>
                  </a:txBody>
                  <a:tcPr/>
                </a:tc>
                <a:tc>
                  <a:txBody>
                    <a:bodyPr/>
                    <a:lstStyle/>
                    <a:p>
                      <a:pPr>
                        <a:defRPr sz="1200">
                          <a:solidFill>
                            <a:srgbClr val="333333"/>
                          </a:solidFill>
                        </a:defRPr>
                      </a:pPr>
                      <a:r>
                        <a:t>~50 sources</a:t>
                      </a:r>
                    </a:p>
                  </a:txBody>
                  <a:tcPr/>
                </a:tc>
                <a:tc>
                  <a:txBody>
                    <a:bodyPr/>
                    <a:lstStyle/>
                    <a:p>
                      <a:pPr>
                        <a:defRPr sz="1200">
                          <a:solidFill>
                            <a:srgbClr val="333333"/>
                          </a:solidFill>
                        </a:defRPr>
                      </a:pPr>
                      <a:r>
                        <a:t>~40%</a:t>
                      </a:r>
                    </a:p>
                  </a:txBody>
                  <a:tcPr/>
                </a:tc>
              </a:tr>
              <a:tr h="1143000">
                <a:tc>
                  <a:txBody>
                    <a:bodyPr/>
                    <a:lstStyle/>
                    <a:p>
                      <a:pPr>
                        <a:defRPr sz="1200">
                          <a:solidFill>
                            <a:srgbClr val="333333"/>
                          </a:solidFill>
                        </a:defRPr>
                      </a:pPr>
                      <a:r>
                        <a:t>**Low (5-30%)**</a:t>
                      </a:r>
                    </a:p>
                  </a:txBody>
                  <a:tcPr/>
                </a:tc>
                <a:tc>
                  <a:txBody>
                    <a:bodyPr/>
                    <a:lstStyle/>
                    <a:p>
                      <a:pPr>
                        <a:defRPr sz="1200">
                          <a:solidFill>
                            <a:srgbClr val="333333"/>
                          </a:solidFill>
                        </a:defRPr>
                      </a:pPr>
                      <a:r>
                        <a:t>~50 sources</a:t>
                      </a:r>
                    </a:p>
                  </a:txBody>
                  <a:tcPr/>
                </a:tc>
                <a:tc>
                  <a:txBody>
                    <a:bodyPr/>
                    <a:lstStyle/>
                    <a:p>
                      <a:pPr>
                        <a:defRPr sz="1200">
                          <a:solidFill>
                            <a:srgbClr val="333333"/>
                          </a:solidFill>
                        </a:defRPr>
                      </a:pPr>
                      <a:r>
                        <a:t>~40%</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Regional Overview: EUROPE</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Key Characteristics</a:t>
            </a:r>
          </a:p>
          <a:p>
            <a:pPr lvl="1">
              <a:spcAft>
                <a:spcPts val="600"/>
              </a:spcAft>
              <a:defRPr sz="1200">
                <a:solidFill>
                  <a:srgbClr val="333333"/>
                </a:solidFill>
              </a:defRPr>
            </a:pPr>
            <a:r>
              <a:t>  • Strengths: Strong statutory fee structures, well-documented rates</a:t>
            </a:r>
          </a:p>
          <a:p>
            <a:pPr lvl="1">
              <a:spcAft>
                <a:spcPts val="600"/>
              </a:spcAft>
              <a:defRPr sz="1200">
                <a:solidFill>
                  <a:srgbClr val="333333"/>
                </a:solidFill>
              </a:defRPr>
            </a:pPr>
            <a:r>
              <a:t>  • Best Resources: BAILII (UK), RIS (Austria), Rechtsprechung im Internet (Germany)</a:t>
            </a:r>
          </a:p>
          <a:p>
            <a:pPr lvl="1">
              <a:spcAft>
                <a:spcPts val="600"/>
              </a:spcAft>
              <a:defRPr sz="1200">
                <a:solidFill>
                  <a:srgbClr val="333333"/>
                </a:solidFill>
              </a:defRPr>
            </a:pPr>
            <a:r>
              <a:t>  • Data Quality: High consistency, often includes official guidelines</a:t>
            </a:r>
          </a:p>
          <a:p>
            <a:pPr>
              <a:spcAft>
                <a:spcPts val="600"/>
              </a:spcAft>
              <a:defRPr sz="1600">
                <a:solidFill>
                  <a:srgbClr val="333333"/>
                </a:solidFill>
              </a:defRPr>
            </a:pPr>
            <a:r>
              <a:t>Featured Sources</a:t>
            </a:r>
          </a:p>
          <a:p>
            <a:pPr>
              <a:spcAft>
                <a:spcPts val="600"/>
              </a:spcAft>
              <a:defRPr sz="1600">
                <a:solidFill>
                  <a:srgbClr val="333333"/>
                </a:solidFill>
              </a:defRPr>
            </a:pPr>
            <a:r>
              <a:t># United Kingdom (BAILII)</a:t>
            </a:r>
          </a:p>
          <a:p>
            <a:pPr lvl="1">
              <a:spcAft>
                <a:spcPts val="600"/>
              </a:spcAft>
              <a:defRPr sz="1200">
                <a:solidFill>
                  <a:srgbClr val="333333"/>
                </a:solidFill>
              </a:defRPr>
            </a:pPr>
            <a:r>
              <a:t>  • Cases: Extensive from 2003+</a:t>
            </a:r>
          </a:p>
          <a:p>
            <a:pPr lvl="1">
              <a:spcAft>
                <a:spcPts val="600"/>
              </a:spcAft>
              <a:defRPr sz="1200">
                <a:solidFill>
                  <a:srgbClr val="333333"/>
                </a:solidFill>
              </a:defRPr>
            </a:pPr>
            <a:r>
              <a:t>  • Scrapability: 95% (Costs section), 30-40% (general)</a:t>
            </a:r>
          </a:p>
          <a:p>
            <a:pPr lvl="1">
              <a:spcAft>
                <a:spcPts val="600"/>
              </a:spcAft>
              <a:defRPr sz="1200">
                <a:solidFill>
                  <a:srgbClr val="333333"/>
                </a:solidFill>
              </a:defRPr>
            </a:pPr>
            <a:r>
              <a:t>  • Fee Range: £134-£690/hour</a:t>
            </a:r>
          </a:p>
          <a:p>
            <a:pPr lvl="1">
              <a:spcAft>
                <a:spcPts val="600"/>
              </a:spcAft>
              <a:defRPr sz="1200">
                <a:solidFill>
                  <a:srgbClr val="333333"/>
                </a:solidFill>
              </a:defRPr>
            </a:pPr>
            <a:r>
              <a:t>  • Official Guidelines: £134-£546/hour by grade and location</a:t>
            </a:r>
          </a:p>
          <a:p>
            <a:pPr>
              <a:spcAft>
                <a:spcPts val="600"/>
              </a:spcAft>
              <a:defRPr sz="1600">
                <a:solidFill>
                  <a:srgbClr val="333333"/>
                </a:solidFill>
              </a:defRPr>
            </a:pPr>
            <a:r>
              <a:t># Germany (Multiple Sources)</a:t>
            </a:r>
          </a:p>
          <a:p>
            <a:pPr lvl="1">
              <a:spcAft>
                <a:spcPts val="600"/>
              </a:spcAft>
              <a:defRPr sz="1200">
                <a:solidFill>
                  <a:srgbClr val="333333"/>
                </a:solidFill>
              </a:defRPr>
            </a:pPr>
            <a:r>
              <a:t>  • Cases: 240,000+</a:t>
            </a:r>
          </a:p>
          <a:p>
            <a:pPr lvl="1">
              <a:spcAft>
                <a:spcPts val="600"/>
              </a:spcAft>
              <a:defRPr sz="1200">
                <a:solidFill>
                  <a:srgbClr val="333333"/>
                </a:solidFill>
              </a:defRPr>
            </a:pPr>
            <a:r>
              <a:t>  • Scrapability: 85% (RVG statutory fees)</a:t>
            </a:r>
          </a:p>
          <a:p>
            <a:pPr lvl="1">
              <a:spcAft>
                <a:spcPts val="600"/>
              </a:spcAft>
              <a:defRPr sz="1200">
                <a:solidFill>
                  <a:srgbClr val="333333"/>
                </a:solidFill>
              </a:defRPr>
            </a:pPr>
            <a:r>
              <a:t>  • System: Highly structured fee calculator system</a:t>
            </a:r>
          </a:p>
          <a:p>
            <a:pPr lvl="1">
              <a:spcAft>
                <a:spcPts val="600"/>
              </a:spcAft>
              <a:defRPr sz="1200">
                <a:solidFill>
                  <a:srgbClr val="333333"/>
                </a:solidFill>
              </a:defRPr>
            </a:pPr>
            <a:r>
              <a:t>  • Sources: Rechtsprechung im Internet, REWIS, Open Legal Data</a:t>
            </a:r>
          </a:p>
          <a:p>
            <a:pPr>
              <a:spcAft>
                <a:spcPts val="600"/>
              </a:spcAft>
              <a:defRPr sz="1600">
                <a:solidFill>
                  <a:srgbClr val="333333"/>
                </a:solidFill>
              </a:defRPr>
            </a:pPr>
            <a:r>
              <a:t># Austria (RIS)</a:t>
            </a:r>
          </a:p>
          <a:p>
            <a:pPr lvl="1">
              <a:spcAft>
                <a:spcPts val="600"/>
              </a:spcAft>
              <a:defRPr sz="1200">
                <a:solidFill>
                  <a:srgbClr val="333333"/>
                </a:solidFill>
              </a:defRPr>
            </a:pPr>
            <a:r>
              <a:t>  • Cases: All decisions from 1980+</a:t>
            </a:r>
          </a:p>
          <a:p>
            <a:pPr lvl="1">
              <a:spcAft>
                <a:spcPts val="600"/>
              </a:spcAft>
              <a:defRPr sz="1200">
                <a:solidFill>
                  <a:srgbClr val="333333"/>
                </a:solidFill>
              </a:defRPr>
            </a:pPr>
            <a:r>
              <a:t>  • Scrapability: 80%</a:t>
            </a:r>
          </a:p>
          <a:p>
            <a:pPr lvl="1">
              <a:spcAft>
                <a:spcPts val="600"/>
              </a:spcAft>
              <a:defRPr sz="1200">
                <a:solidFill>
                  <a:srgbClr val="333333"/>
                </a:solidFill>
              </a:defRPr>
            </a:pPr>
            <a:r>
              <a:t>  • System: RATG statutory tariff</a:t>
            </a:r>
          </a:p>
          <a:p>
            <a:pPr lvl="1">
              <a:spcAft>
                <a:spcPts val="600"/>
              </a:spcAft>
              <a:defRPr sz="1200">
                <a:solidFill>
                  <a:srgbClr val="333333"/>
                </a:solidFill>
              </a:defRPr>
            </a:pPr>
            <a:r>
              <a:t>  • Formats: XML, RTF, PDF, HTML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Regional Overview: ASIA</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Key Characteristics</a:t>
            </a:r>
          </a:p>
          <a:p>
            <a:pPr lvl="1">
              <a:spcAft>
                <a:spcPts val="600"/>
              </a:spcAft>
              <a:defRPr sz="1200">
                <a:solidFill>
                  <a:srgbClr val="333333"/>
                </a:solidFill>
              </a:defRPr>
            </a:pPr>
            <a:r>
              <a:t>  • Diversity: Wide variation in systems and accessibility</a:t>
            </a:r>
          </a:p>
          <a:p>
            <a:pPr lvl="1">
              <a:spcAft>
                <a:spcPts val="600"/>
              </a:spcAft>
              <a:defRPr sz="1200">
                <a:solidFill>
                  <a:srgbClr val="333333"/>
                </a:solidFill>
              </a:defRPr>
            </a:pPr>
            <a:r>
              <a:t>  • Challenges: Language barriers, limited fee awards in some jurisdictions</a:t>
            </a:r>
          </a:p>
          <a:p>
            <a:pPr lvl="1">
              <a:spcAft>
                <a:spcPts val="600"/>
              </a:spcAft>
              <a:defRPr sz="1200">
                <a:solidFill>
                  <a:srgbClr val="333333"/>
                </a:solidFill>
              </a:defRPr>
            </a:pPr>
            <a:r>
              <a:t>  • Opportunities: Growing digital infrastructure</a:t>
            </a:r>
          </a:p>
          <a:p>
            <a:pPr>
              <a:spcAft>
                <a:spcPts val="600"/>
              </a:spcAft>
              <a:defRPr sz="1600">
                <a:solidFill>
                  <a:srgbClr val="333333"/>
                </a:solidFill>
              </a:defRPr>
            </a:pPr>
            <a:r>
              <a:t>Featured Sources</a:t>
            </a:r>
          </a:p>
          <a:p>
            <a:pPr>
              <a:spcAft>
                <a:spcPts val="600"/>
              </a:spcAft>
              <a:defRPr sz="1600">
                <a:solidFill>
                  <a:srgbClr val="333333"/>
                </a:solidFill>
              </a:defRPr>
            </a:pPr>
            <a:r>
              <a:t># India (IndianKanoon)</a:t>
            </a:r>
          </a:p>
          <a:p>
            <a:pPr lvl="1">
              <a:spcAft>
                <a:spcPts val="600"/>
              </a:spcAft>
              <a:defRPr sz="1200">
                <a:solidFill>
                  <a:srgbClr val="333333"/>
                </a:solidFill>
              </a:defRPr>
            </a:pPr>
            <a:r>
              <a:t>  • Cases: 1,400,000+ judgments</a:t>
            </a:r>
          </a:p>
          <a:p>
            <a:pPr lvl="1">
              <a:spcAft>
                <a:spcPts val="600"/>
              </a:spcAft>
              <a:defRPr sz="1200">
                <a:solidFill>
                  <a:srgbClr val="333333"/>
                </a:solidFill>
              </a:defRPr>
            </a:pPr>
            <a:r>
              <a:t>  • Scrapability: 10-15% (fees not typically awarded)</a:t>
            </a:r>
          </a:p>
          <a:p>
            <a:pPr lvl="1">
              <a:spcAft>
                <a:spcPts val="600"/>
              </a:spcAft>
              <a:defRPr sz="1200">
                <a:solidFill>
                  <a:srgbClr val="333333"/>
                </a:solidFill>
              </a:defRPr>
            </a:pPr>
            <a:r>
              <a:t>  • Fee Structure: Rs 25,000-15 lakh per appearance</a:t>
            </a:r>
          </a:p>
          <a:p>
            <a:pPr lvl="1">
              <a:spcAft>
                <a:spcPts val="600"/>
              </a:spcAft>
              <a:defRPr sz="1200">
                <a:solidFill>
                  <a:srgbClr val="333333"/>
                </a:solidFill>
              </a:defRPr>
            </a:pPr>
            <a:r>
              <a:t>  • Note: Not hourly rates; 10% award rate in tort cases</a:t>
            </a:r>
          </a:p>
          <a:p>
            <a:pPr>
              <a:spcAft>
                <a:spcPts val="600"/>
              </a:spcAft>
              <a:defRPr sz="1600">
                <a:solidFill>
                  <a:srgbClr val="333333"/>
                </a:solidFill>
              </a:defRPr>
            </a:pPr>
            <a:r>
              <a:t># Singapore (ELITIGATION)</a:t>
            </a:r>
          </a:p>
          <a:p>
            <a:pPr lvl="1">
              <a:spcAft>
                <a:spcPts val="600"/>
              </a:spcAft>
              <a:defRPr sz="1200">
                <a:solidFill>
                  <a:srgbClr val="333333"/>
                </a:solidFill>
              </a:defRPr>
            </a:pPr>
            <a:r>
              <a:t>  • Cases: Comprehensive recent judgments</a:t>
            </a:r>
          </a:p>
          <a:p>
            <a:pPr lvl="1">
              <a:spcAft>
                <a:spcPts val="600"/>
              </a:spcAft>
              <a:defRPr sz="1200">
                <a:solidFill>
                  <a:srgbClr val="333333"/>
                </a:solidFill>
              </a:defRPr>
            </a:pPr>
            <a:r>
              <a:t>  • Scrapability: 70% (taxation cases), 35% (overall)</a:t>
            </a:r>
          </a:p>
          <a:p>
            <a:pPr lvl="1">
              <a:spcAft>
                <a:spcPts val="600"/>
              </a:spcAft>
              <a:defRPr sz="1200">
                <a:solidFill>
                  <a:srgbClr val="333333"/>
                </a:solidFill>
              </a:defRPr>
            </a:pPr>
            <a:r>
              <a:t>  • Fee Range: S$60-100/hour documented</a:t>
            </a:r>
          </a:p>
          <a:p>
            <a:pPr lvl="1">
              <a:spcAft>
                <a:spcPts val="600"/>
              </a:spcAft>
              <a:defRPr sz="1200">
                <a:solidFill>
                  <a:srgbClr val="333333"/>
                </a:solidFill>
              </a:defRPr>
            </a:pPr>
            <a:r>
              <a:t>  • Strength: Extensive taxation of costs cases</a:t>
            </a:r>
          </a:p>
          <a:p>
            <a:pPr>
              <a:spcAft>
                <a:spcPts val="600"/>
              </a:spcAft>
              <a:defRPr sz="1600">
                <a:solidFill>
                  <a:srgbClr val="333333"/>
                </a:solidFill>
              </a:defRPr>
            </a:pPr>
            <a:r>
              <a:t># Vietnam (Court E-Portal)</a:t>
            </a:r>
          </a:p>
          <a:p>
            <a:pPr lvl="1">
              <a:spcAft>
                <a:spcPts val="600"/>
              </a:spcAft>
              <a:defRPr sz="1200">
                <a:solidFill>
                  <a:srgbClr val="333333"/>
                </a:solidFill>
              </a:defRPr>
            </a:pPr>
            <a:r>
              <a:t>  • Cases: All enforceable judgments from July 1, 2017</a:t>
            </a:r>
          </a:p>
          <a:p>
            <a:pPr lvl="1">
              <a:spcAft>
                <a:spcPts val="600"/>
              </a:spcAft>
              <a:defRPr sz="1200">
                <a:solidFill>
                  <a:srgbClr val="333333"/>
                </a:solidFill>
              </a:defRPr>
            </a:pPr>
            <a:r>
              <a:t>  • Scrapability: 40%</a:t>
            </a:r>
          </a:p>
          <a:p>
            <a:pPr lvl="1">
              <a:spcAft>
                <a:spcPts val="600"/>
              </a:spcAft>
              <a:defRPr sz="1200">
                <a:solidFill>
                  <a:srgbClr val="333333"/>
                </a:solidFill>
              </a:defRPr>
            </a:pPr>
            <a:r>
              <a:t>  • System: Mandatory publication within 30 days</a:t>
            </a:r>
          </a:p>
          <a:p>
            <a:pPr lvl="1">
              <a:spcAft>
                <a:spcPts val="600"/>
              </a:spcAft>
              <a:defRPr sz="1200">
                <a:solidFill>
                  <a:srgbClr val="333333"/>
                </a:solidFill>
              </a:defRPr>
            </a:pPr>
            <a:r>
              <a:t>  • Note: Losing party bears costs; attorney fees NOT automatic (except IP)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Regional Overview: OCEANIA</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Key Characteristics</a:t>
            </a:r>
          </a:p>
          <a:p>
            <a:pPr lvl="1">
              <a:spcAft>
                <a:spcPts val="600"/>
              </a:spcAft>
              <a:defRPr sz="1200">
                <a:solidFill>
                  <a:srgbClr val="333333"/>
                </a:solidFill>
              </a:defRPr>
            </a:pPr>
            <a:r>
              <a:t>  • Strengths: Excellent free access via LII network</a:t>
            </a:r>
          </a:p>
          <a:p>
            <a:pPr lvl="1">
              <a:spcAft>
                <a:spcPts val="600"/>
              </a:spcAft>
              <a:defRPr sz="1200">
                <a:solidFill>
                  <a:srgbClr val="333333"/>
                </a:solidFill>
              </a:defRPr>
            </a:pPr>
            <a:r>
              <a:t>  • Best Practice: Comprehensive coverage and clear documentation</a:t>
            </a:r>
          </a:p>
          <a:p>
            <a:pPr lvl="1">
              <a:spcAft>
                <a:spcPts val="600"/>
              </a:spcAft>
              <a:defRPr sz="1200">
                <a:solidFill>
                  <a:srgbClr val="333333"/>
                </a:solidFill>
              </a:defRPr>
            </a:pPr>
            <a:r>
              <a:t>  • Fee Transparency: High level of detail in cost awards</a:t>
            </a:r>
          </a:p>
          <a:p>
            <a:pPr>
              <a:spcAft>
                <a:spcPts val="600"/>
              </a:spcAft>
              <a:defRPr sz="1600">
                <a:solidFill>
                  <a:srgbClr val="333333"/>
                </a:solidFill>
              </a:defRPr>
            </a:pPr>
            <a:r>
              <a:t>Featured Sources</a:t>
            </a:r>
          </a:p>
          <a:p>
            <a:pPr>
              <a:spcAft>
                <a:spcPts val="600"/>
              </a:spcAft>
              <a:defRPr sz="1600">
                <a:solidFill>
                  <a:srgbClr val="333333"/>
                </a:solidFill>
              </a:defRPr>
            </a:pPr>
            <a:r>
              <a:t># Australia (AustLII)</a:t>
            </a:r>
          </a:p>
          <a:p>
            <a:pPr lvl="1">
              <a:spcAft>
                <a:spcPts val="600"/>
              </a:spcAft>
              <a:defRPr sz="1200">
                <a:solidFill>
                  <a:srgbClr val="333333"/>
                </a:solidFill>
              </a:defRPr>
            </a:pPr>
            <a:r>
              <a:t>  • Cases: Comprehensive coverage all courts</a:t>
            </a:r>
          </a:p>
          <a:p>
            <a:pPr lvl="1">
              <a:spcAft>
                <a:spcPts val="600"/>
              </a:spcAft>
              <a:defRPr sz="1200">
                <a:solidFill>
                  <a:srgbClr val="333333"/>
                </a:solidFill>
              </a:defRPr>
            </a:pPr>
            <a:r>
              <a:t>  • Scrapability: 65%</a:t>
            </a:r>
          </a:p>
          <a:p>
            <a:pPr lvl="1">
              <a:spcAft>
                <a:spcPts val="600"/>
              </a:spcAft>
              <a:defRPr sz="1200">
                <a:solidFill>
                  <a:srgbClr val="333333"/>
                </a:solidFill>
              </a:defRPr>
            </a:pPr>
            <a:r>
              <a:t>  • Fee Ranges:</a:t>
            </a:r>
          </a:p>
          <a:p>
            <a:pPr lvl="1">
              <a:spcAft>
                <a:spcPts val="600"/>
              </a:spcAft>
              <a:defRPr sz="1200">
                <a:solidFill>
                  <a:srgbClr val="333333"/>
                </a:solidFill>
              </a:defRPr>
            </a:pPr>
            <a:r>
              <a:t>  • Graduate lawyers: $200-400/hour</a:t>
            </a:r>
          </a:p>
          <a:p>
            <a:pPr lvl="1">
              <a:spcAft>
                <a:spcPts val="600"/>
              </a:spcAft>
              <a:defRPr sz="1200">
                <a:solidFill>
                  <a:srgbClr val="333333"/>
                </a:solidFill>
              </a:defRPr>
            </a:pPr>
            <a:r>
              <a:t>  • Mid-level: $350-550/hour</a:t>
            </a:r>
          </a:p>
          <a:p>
            <a:pPr>
              <a:spcAft>
                <a:spcPts val="600"/>
              </a:spcAft>
              <a:defRPr sz="1600">
                <a:solidFill>
                  <a:srgbClr val="333333"/>
                </a:solidFill>
              </a:defRPr>
            </a:pPr>
            <a:r>
              <a:t># Papua New Guinea (PacLII)</a:t>
            </a:r>
          </a:p>
          <a:p>
            <a:pPr lvl="1">
              <a:spcAft>
                <a:spcPts val="600"/>
              </a:spcAft>
              <a:defRPr sz="1200">
                <a:solidFill>
                  <a:srgbClr val="333333"/>
                </a:solidFill>
              </a:defRPr>
            </a:pPr>
            <a:r>
              <a:t>  • Cases: Supreme Court 1946+, National Court 1974+</a:t>
            </a:r>
          </a:p>
          <a:p>
            <a:pPr lvl="1">
              <a:spcAft>
                <a:spcPts val="600"/>
              </a:spcAft>
              <a:defRPr sz="1200">
                <a:solidFill>
                  <a:srgbClr val="333333"/>
                </a:solidFill>
              </a:defRPr>
            </a:pPr>
            <a:r>
              <a:t>  • Scrapability: 50%</a:t>
            </a:r>
          </a:p>
          <a:p>
            <a:pPr lvl="1">
              <a:spcAft>
                <a:spcPts val="600"/>
              </a:spcAft>
              <a:defRPr sz="1200">
                <a:solidFill>
                  <a:srgbClr val="333333"/>
                </a:solidFill>
              </a:defRPr>
            </a:pPr>
            <a:r>
              <a:t>  • Access: COMPLETELY FREE - no fees whatsoever</a:t>
            </a:r>
          </a:p>
          <a:p>
            <a:pPr lvl="1">
              <a:spcAft>
                <a:spcPts val="600"/>
              </a:spcAft>
              <a:defRPr sz="1200">
                <a:solidFill>
                  <a:srgbClr val="333333"/>
                </a:solidFill>
              </a:defRPr>
            </a:pPr>
            <a:r>
              <a:t>  • Coverage: Excellent comprehensive access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Regional Overview: AFRICA</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Key Characteristics</a:t>
            </a:r>
          </a:p>
          <a:p>
            <a:pPr lvl="1">
              <a:spcAft>
                <a:spcPts val="600"/>
              </a:spcAft>
              <a:defRPr sz="1200">
                <a:solidFill>
                  <a:srgbClr val="333333"/>
                </a:solidFill>
              </a:defRPr>
            </a:pPr>
            <a:r>
              <a:t>  • Leader: South Africa (SAFLII) sets regional standard</a:t>
            </a:r>
          </a:p>
          <a:p>
            <a:pPr lvl="1">
              <a:spcAft>
                <a:spcPts val="600"/>
              </a:spcAft>
              <a:defRPr sz="1200">
                <a:solidFill>
                  <a:srgbClr val="333333"/>
                </a:solidFill>
              </a:defRPr>
            </a:pPr>
            <a:r>
              <a:t>  • Growth: Rapid expansion of LII network</a:t>
            </a:r>
          </a:p>
          <a:p>
            <a:pPr lvl="1">
              <a:spcAft>
                <a:spcPts val="600"/>
              </a:spcAft>
              <a:defRPr sz="1200">
                <a:solidFill>
                  <a:srgbClr val="333333"/>
                </a:solidFill>
              </a:defRPr>
            </a:pPr>
            <a:r>
              <a:t>  • Fee Documentation: Often includes specific taxed amounts</a:t>
            </a:r>
          </a:p>
          <a:p>
            <a:pPr>
              <a:spcAft>
                <a:spcPts val="600"/>
              </a:spcAft>
              <a:defRPr sz="1600">
                <a:solidFill>
                  <a:srgbClr val="333333"/>
                </a:solidFill>
              </a:defRPr>
            </a:pPr>
            <a:r>
              <a:t>Featured Sources</a:t>
            </a:r>
          </a:p>
          <a:p>
            <a:pPr>
              <a:spcAft>
                <a:spcPts val="600"/>
              </a:spcAft>
              <a:defRPr sz="1600">
                <a:solidFill>
                  <a:srgbClr val="333333"/>
                </a:solidFill>
              </a:defRPr>
            </a:pPr>
            <a:r>
              <a:t># South Africa (SAFLII)</a:t>
            </a:r>
          </a:p>
          <a:p>
            <a:pPr lvl="1">
              <a:spcAft>
                <a:spcPts val="600"/>
              </a:spcAft>
              <a:defRPr sz="1200">
                <a:solidFill>
                  <a:srgbClr val="333333"/>
                </a:solidFill>
              </a:defRPr>
            </a:pPr>
            <a:r>
              <a:t>  • Cases: Constitutional Court 1995+, SCA 1971+</a:t>
            </a:r>
          </a:p>
          <a:p>
            <a:pPr lvl="1">
              <a:spcAft>
                <a:spcPts val="600"/>
              </a:spcAft>
              <a:defRPr sz="1200">
                <a:solidFill>
                  <a:srgbClr val="333333"/>
                </a:solidFill>
              </a:defRPr>
            </a:pPr>
            <a:r>
              <a:t>  • Scrapability: 70%</a:t>
            </a:r>
          </a:p>
          <a:p>
            <a:pPr lvl="1">
              <a:spcAft>
                <a:spcPts val="600"/>
              </a:spcAft>
              <a:defRPr sz="1200">
                <a:solidFill>
                  <a:srgbClr val="333333"/>
                </a:solidFill>
              </a:defRPr>
            </a:pPr>
            <a:r>
              <a:t>  • Fee Structure:</a:t>
            </a:r>
          </a:p>
          <a:p>
            <a:pPr lvl="1">
              <a:spcAft>
                <a:spcPts val="600"/>
              </a:spcAft>
              <a:defRPr sz="1200">
                <a:solidFill>
                  <a:srgbClr val="333333"/>
                </a:solidFill>
              </a:defRPr>
            </a:pPr>
            <a:r>
              <a:t>  • Attorneys: R375/15 min = R1,500/hour</a:t>
            </a:r>
          </a:p>
          <a:p>
            <a:pPr lvl="1">
              <a:spcAft>
                <a:spcPts val="600"/>
              </a:spcAft>
              <a:defRPr sz="1200">
                <a:solidFill>
                  <a:srgbClr val="333333"/>
                </a:solidFill>
              </a:defRPr>
            </a:pPr>
            <a:r>
              <a:t>  • Counsel Scale C: R4,500/hour (R45,000/day)</a:t>
            </a:r>
          </a:p>
          <a:p>
            <a:pPr>
              <a:spcAft>
                <a:spcPts val="600"/>
              </a:spcAft>
              <a:defRPr sz="1600">
                <a:solidFill>
                  <a:srgbClr val="333333"/>
                </a:solidFill>
              </a:defRPr>
            </a:pPr>
            <a:r>
              <a:t># Kenya (Kenya Law)</a:t>
            </a:r>
          </a:p>
          <a:p>
            <a:pPr lvl="1">
              <a:spcAft>
                <a:spcPts val="600"/>
              </a:spcAft>
              <a:defRPr sz="1200">
                <a:solidFill>
                  <a:srgbClr val="333333"/>
                </a:solidFill>
              </a:defRPr>
            </a:pPr>
            <a:r>
              <a:t>  • Cases: ~300,000 cases (1930-present)</a:t>
            </a:r>
          </a:p>
          <a:p>
            <a:pPr lvl="1">
              <a:spcAft>
                <a:spcPts val="600"/>
              </a:spcAft>
              <a:defRPr sz="1200">
                <a:solidFill>
                  <a:srgbClr val="333333"/>
                </a:solidFill>
              </a:defRPr>
            </a:pPr>
            <a:r>
              <a:t>  • Scrapability: 75%</a:t>
            </a:r>
          </a:p>
          <a:p>
            <a:pPr lvl="1">
              <a:spcAft>
                <a:spcPts val="600"/>
              </a:spcAft>
              <a:defRPr sz="1200">
                <a:solidFill>
                  <a:srgbClr val="333333"/>
                </a:solidFill>
              </a:defRPr>
            </a:pPr>
            <a:r>
              <a:t>  • Recent Awards (2024):</a:t>
            </a:r>
          </a:p>
          <a:p>
            <a:pPr lvl="1">
              <a:spcAft>
                <a:spcPts val="600"/>
              </a:spcAft>
              <a:defRPr sz="1200">
                <a:solidFill>
                  <a:srgbClr val="333333"/>
                </a:solidFill>
              </a:defRPr>
            </a:pPr>
            <a:r>
              <a:t>  • KES 1,314,428.08</a:t>
            </a:r>
          </a:p>
          <a:p>
            <a:pPr lvl="1">
              <a:spcAft>
                <a:spcPts val="600"/>
              </a:spcAft>
              <a:defRPr sz="1200">
                <a:solidFill>
                  <a:srgbClr val="333333"/>
                </a:solidFill>
              </a:defRPr>
            </a:pPr>
            <a:r>
              <a:t>  • KES 3,950,396</a:t>
            </a:r>
          </a:p>
          <a:p>
            <a:pPr>
              <a:spcAft>
                <a:spcPts val="600"/>
              </a:spcAft>
              <a:defRPr sz="1600">
                <a:solidFill>
                  <a:srgbClr val="333333"/>
                </a:solidFill>
              </a:defRPr>
            </a:pPr>
            <a:r>
              <a:t># Tanzania (TanzLII)</a:t>
            </a:r>
          </a:p>
          <a:p>
            <a:pPr lvl="1">
              <a:spcAft>
                <a:spcPts val="600"/>
              </a:spcAft>
              <a:defRPr sz="1200">
                <a:solidFill>
                  <a:srgbClr val="333333"/>
                </a:solidFill>
              </a:defRPr>
            </a:pPr>
            <a:r>
              <a:t>  • Cases: High Court, Court of Appeal</a:t>
            </a:r>
          </a:p>
          <a:p>
            <a:pPr lvl="1">
              <a:spcAft>
                <a:spcPts val="600"/>
              </a:spcAft>
              <a:defRPr sz="1200">
                <a:solidFill>
                  <a:srgbClr val="333333"/>
                </a:solidFill>
              </a:defRPr>
            </a:pPr>
            <a:r>
              <a:t>  • Scrapability: 60%</a:t>
            </a:r>
          </a:p>
          <a:p>
            <a:pPr lvl="1">
              <a:spcAft>
                <a:spcPts val="600"/>
              </a:spcAft>
              <a:defRPr sz="1200">
                <a:solidFill>
                  <a:srgbClr val="333333"/>
                </a:solidFill>
              </a:defRPr>
            </a:pPr>
            <a:r>
              <a:t>  • Regulations: Advocates' Remuneration Rules 1991, Court Fees Rules 2015</a:t>
            </a:r>
          </a:p>
          <a:p>
            <a:pPr lvl="1">
              <a:spcAft>
                <a:spcPts val="600"/>
              </a:spcAft>
              <a:defRPr sz="1200">
                <a:solidFill>
                  <a:srgbClr val="333333"/>
                </a:solidFill>
              </a:defRPr>
            </a:pPr>
            <a:r>
              <a:t>  • Access: Statutory schedules downloadable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Regional Overview: NORTH AMERICA</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Key Characteristics</a:t>
            </a:r>
          </a:p>
          <a:p>
            <a:pPr lvl="1">
              <a:spcAft>
                <a:spcPts val="600"/>
              </a:spcAft>
              <a:defRPr sz="1200">
                <a:solidFill>
                  <a:srgbClr val="333333"/>
                </a:solidFill>
              </a:defRPr>
            </a:pPr>
            <a:r>
              <a:t>  • United States: Most comprehensive fee disclosure</a:t>
            </a:r>
          </a:p>
          <a:p>
            <a:pPr lvl="1">
              <a:spcAft>
                <a:spcPts val="600"/>
              </a:spcAft>
              <a:defRPr sz="1200">
                <a:solidFill>
                  <a:srgbClr val="333333"/>
                </a:solidFill>
              </a:defRPr>
            </a:pPr>
            <a:r>
              <a:t>  • Canada: Province-by-province variation</a:t>
            </a:r>
          </a:p>
          <a:p>
            <a:pPr lvl="1">
              <a:spcAft>
                <a:spcPts val="600"/>
              </a:spcAft>
              <a:defRPr sz="1200">
                <a:solidFill>
                  <a:srgbClr val="333333"/>
                </a:solidFill>
              </a:defRPr>
            </a:pPr>
            <a:r>
              <a:t>  • Complexity: Federal vs. state/provincial systems</a:t>
            </a:r>
          </a:p>
          <a:p>
            <a:pPr>
              <a:spcAft>
                <a:spcPts val="600"/>
              </a:spcAft>
              <a:defRPr sz="1600">
                <a:solidFill>
                  <a:srgbClr val="333333"/>
                </a:solidFill>
              </a:defRPr>
            </a:pPr>
            <a:r>
              <a:t>Featured Sources</a:t>
            </a:r>
          </a:p>
          <a:p>
            <a:pPr>
              <a:spcAft>
                <a:spcPts val="600"/>
              </a:spcAft>
              <a:defRPr sz="1600">
                <a:solidFill>
                  <a:srgbClr val="333333"/>
                </a:solidFill>
              </a:defRPr>
            </a:pPr>
            <a:r>
              <a:t># United States - Federal (CourtListener)</a:t>
            </a:r>
          </a:p>
          <a:p>
            <a:pPr lvl="1">
              <a:spcAft>
                <a:spcPts val="600"/>
              </a:spcAft>
              <a:defRPr sz="1200">
                <a:solidFill>
                  <a:srgbClr val="333333"/>
                </a:solidFill>
              </a:defRPr>
            </a:pPr>
            <a:r>
              <a:t>  • Cases: 14,000,000+ opinions</a:t>
            </a:r>
          </a:p>
          <a:p>
            <a:pPr lvl="1">
              <a:spcAft>
                <a:spcPts val="600"/>
              </a:spcAft>
              <a:defRPr sz="1200">
                <a:solidFill>
                  <a:srgbClr val="333333"/>
                </a:solidFill>
              </a:defRPr>
            </a:pPr>
            <a:r>
              <a:t>  • Scrapability: 80%</a:t>
            </a:r>
          </a:p>
          <a:p>
            <a:pPr lvl="1">
              <a:spcAft>
                <a:spcPts val="600"/>
              </a:spcAft>
              <a:defRPr sz="1200">
                <a:solidFill>
                  <a:srgbClr val="333333"/>
                </a:solidFill>
              </a:defRPr>
            </a:pPr>
            <a:r>
              <a:t>  • Strength: PACER integration, attorney fee awards searchable</a:t>
            </a:r>
          </a:p>
          <a:p>
            <a:pPr lvl="1">
              <a:spcAft>
                <a:spcPts val="600"/>
              </a:spcAft>
              <a:defRPr sz="1200">
                <a:solidFill>
                  <a:srgbClr val="333333"/>
                </a:solidFill>
              </a:defRPr>
            </a:pPr>
            <a:r>
              <a:t>  • Coverage: Comprehensive federal system</a:t>
            </a:r>
          </a:p>
          <a:p>
            <a:pPr>
              <a:spcAft>
                <a:spcPts val="600"/>
              </a:spcAft>
              <a:defRPr sz="1600">
                <a:solidFill>
                  <a:srgbClr val="333333"/>
                </a:solidFill>
              </a:defRPr>
            </a:pPr>
            <a:r>
              <a:t># United States - State Courts</a:t>
            </a:r>
          </a:p>
          <a:p>
            <a:pPr lvl="1">
              <a:spcAft>
                <a:spcPts val="600"/>
              </a:spcAft>
              <a:defRPr sz="1200">
                <a:solidFill>
                  <a:srgbClr val="333333"/>
                </a:solidFill>
              </a:defRPr>
            </a:pPr>
            <a:r>
              <a:t>  • California (CAL): 11,000,000+ cases, 75% scrapability</a:t>
            </a:r>
          </a:p>
          <a:p>
            <a:pPr lvl="1">
              <a:spcAft>
                <a:spcPts val="600"/>
              </a:spcAft>
              <a:defRPr sz="1200">
                <a:solidFill>
                  <a:srgbClr val="333333"/>
                </a:solidFill>
              </a:defRPr>
            </a:pPr>
            <a:r>
              <a:t>  • New York (NYSCEF): 500,000+ cases, 70% scrapability</a:t>
            </a:r>
          </a:p>
          <a:p>
            <a:pPr lvl="1">
              <a:spcAft>
                <a:spcPts val="600"/>
              </a:spcAft>
              <a:defRPr sz="1200">
                <a:solidFill>
                  <a:srgbClr val="333333"/>
                </a:solidFill>
              </a:defRPr>
            </a:pPr>
            <a:r>
              <a:t>  • Texas: 1,000,000+ cases, 65% scrapability</a:t>
            </a:r>
          </a:p>
          <a:p>
            <a:pPr>
              <a:spcAft>
                <a:spcPts val="600"/>
              </a:spcAft>
              <a:defRPr sz="1600">
                <a:solidFill>
                  <a:srgbClr val="333333"/>
                </a:solidFill>
              </a:defRPr>
            </a:pPr>
            <a:r>
              <a:t># Canada (CanLII)</a:t>
            </a:r>
          </a:p>
          <a:p>
            <a:pPr lvl="1">
              <a:spcAft>
                <a:spcPts val="600"/>
              </a:spcAft>
              <a:defRPr sz="1200">
                <a:solidFill>
                  <a:srgbClr val="333333"/>
                </a:solidFill>
              </a:defRPr>
            </a:pPr>
            <a:r>
              <a:t>  • Cases: 1,700,000+ decisions</a:t>
            </a:r>
          </a:p>
          <a:p>
            <a:pPr lvl="1">
              <a:spcAft>
                <a:spcPts val="600"/>
              </a:spcAft>
              <a:defRPr sz="1200">
                <a:solidFill>
                  <a:srgbClr val="333333"/>
                </a:solidFill>
              </a:defRPr>
            </a:pPr>
            <a:r>
              <a:t>  • Scrapability: 55%</a:t>
            </a:r>
          </a:p>
          <a:p>
            <a:pPr lvl="1">
              <a:spcAft>
                <a:spcPts val="600"/>
              </a:spcAft>
              <a:defRPr sz="1200">
                <a:solidFill>
                  <a:srgbClr val="333333"/>
                </a:solidFill>
              </a:defRPr>
            </a:pPr>
            <a:r>
              <a:t>  • Fee Range: CAD $200-800+/hour</a:t>
            </a:r>
          </a:p>
          <a:p>
            <a:pPr lvl="1">
              <a:spcAft>
                <a:spcPts val="600"/>
              </a:spcAft>
              <a:defRPr sz="1200">
                <a:solidFill>
                  <a:srgbClr val="333333"/>
                </a:solidFill>
              </a:defRPr>
            </a:pPr>
            <a:r>
              <a:t>  • Coverage: All provinces and territories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Regional Overview: SOUTH AMERICA</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Key Characteristics</a:t>
            </a:r>
          </a:p>
          <a:p>
            <a:pPr lvl="1">
              <a:spcAft>
                <a:spcPts val="600"/>
              </a:spcAft>
              <a:defRPr sz="1200">
                <a:solidFill>
                  <a:srgbClr val="333333"/>
                </a:solidFill>
              </a:defRPr>
            </a:pPr>
            <a:r>
              <a:t>  • Language: Primarily Spanish/Portuguese</a:t>
            </a:r>
          </a:p>
          <a:p>
            <a:pPr lvl="1">
              <a:spcAft>
                <a:spcPts val="600"/>
              </a:spcAft>
              <a:defRPr sz="1200">
                <a:solidFill>
                  <a:srgbClr val="333333"/>
                </a:solidFill>
              </a:defRPr>
            </a:pPr>
            <a:r>
              <a:t>  • Digitization: Rapidly improving infrastructure</a:t>
            </a:r>
          </a:p>
          <a:p>
            <a:pPr lvl="1">
              <a:spcAft>
                <a:spcPts val="600"/>
              </a:spcAft>
              <a:defRPr sz="1200">
                <a:solidFill>
                  <a:srgbClr val="333333"/>
                </a:solidFill>
              </a:defRPr>
            </a:pPr>
            <a:r>
              <a:t>  • Challenges: Varying levels of online access</a:t>
            </a:r>
          </a:p>
          <a:p>
            <a:pPr>
              <a:spcAft>
                <a:spcPts val="600"/>
              </a:spcAft>
              <a:defRPr sz="1600">
                <a:solidFill>
                  <a:srgbClr val="333333"/>
                </a:solidFill>
              </a:defRPr>
            </a:pPr>
            <a:r>
              <a:t>Featured Sources</a:t>
            </a:r>
          </a:p>
          <a:p>
            <a:pPr>
              <a:spcAft>
                <a:spcPts val="600"/>
              </a:spcAft>
              <a:defRPr sz="1600">
                <a:solidFill>
                  <a:srgbClr val="333333"/>
                </a:solidFill>
              </a:defRPr>
            </a:pPr>
            <a:r>
              <a:t># Brazil (JusBrasil)</a:t>
            </a:r>
          </a:p>
          <a:p>
            <a:pPr lvl="1">
              <a:spcAft>
                <a:spcPts val="600"/>
              </a:spcAft>
              <a:defRPr sz="1200">
                <a:solidFill>
                  <a:srgbClr val="333333"/>
                </a:solidFill>
              </a:defRPr>
            </a:pPr>
            <a:r>
              <a:t>  • Cases: 140,000,000+ documents</a:t>
            </a:r>
          </a:p>
          <a:p>
            <a:pPr lvl="1">
              <a:spcAft>
                <a:spcPts val="600"/>
              </a:spcAft>
              <a:defRPr sz="1200">
                <a:solidFill>
                  <a:srgbClr val="333333"/>
                </a:solidFill>
              </a:defRPr>
            </a:pPr>
            <a:r>
              <a:t>  • Scrapability: 40%</a:t>
            </a:r>
          </a:p>
          <a:p>
            <a:pPr lvl="1">
              <a:spcAft>
                <a:spcPts val="600"/>
              </a:spcAft>
              <a:defRPr sz="1200">
                <a:solidFill>
                  <a:srgbClr val="333333"/>
                </a:solidFill>
              </a:defRPr>
            </a:pPr>
            <a:r>
              <a:t>  • System: Largest legal database in Latin America</a:t>
            </a:r>
          </a:p>
          <a:p>
            <a:pPr lvl="1">
              <a:spcAft>
                <a:spcPts val="600"/>
              </a:spcAft>
              <a:defRPr sz="1200">
                <a:solidFill>
                  <a:srgbClr val="333333"/>
                </a:solidFill>
              </a:defRPr>
            </a:pPr>
            <a:r>
              <a:t>  • Note: Portuguese language; "loser pays" principle</a:t>
            </a:r>
          </a:p>
          <a:p>
            <a:pPr>
              <a:spcAft>
                <a:spcPts val="600"/>
              </a:spcAft>
              <a:defRPr sz="1600">
                <a:solidFill>
                  <a:srgbClr val="333333"/>
                </a:solidFill>
              </a:defRPr>
            </a:pPr>
            <a:r>
              <a:t># Colombia (Rama Judicial)</a:t>
            </a:r>
          </a:p>
          <a:p>
            <a:pPr lvl="1">
              <a:spcAft>
                <a:spcPts val="600"/>
              </a:spcAft>
              <a:defRPr sz="1200">
                <a:solidFill>
                  <a:srgbClr val="333333"/>
                </a:solidFill>
              </a:defRPr>
            </a:pPr>
            <a:r>
              <a:t>  • Cases: 14,000,000+ decisions</a:t>
            </a:r>
          </a:p>
          <a:p>
            <a:pPr lvl="1">
              <a:spcAft>
                <a:spcPts val="600"/>
              </a:spcAft>
              <a:defRPr sz="1200">
                <a:solidFill>
                  <a:srgbClr val="333333"/>
                </a:solidFill>
              </a:defRPr>
            </a:pPr>
            <a:r>
              <a:t>  • Scrapability: 50%</a:t>
            </a:r>
          </a:p>
          <a:p>
            <a:pPr lvl="1">
              <a:spcAft>
                <a:spcPts val="600"/>
              </a:spcAft>
              <a:defRPr sz="1200">
                <a:solidFill>
                  <a:srgbClr val="333333"/>
                </a:solidFill>
              </a:defRPr>
            </a:pPr>
            <a:r>
              <a:t>  • Access: Free public access</a:t>
            </a:r>
          </a:p>
          <a:p>
            <a:pPr lvl="1">
              <a:spcAft>
                <a:spcPts val="600"/>
              </a:spcAft>
              <a:defRPr sz="1200">
                <a:solidFill>
                  <a:srgbClr val="333333"/>
                </a:solidFill>
              </a:defRPr>
            </a:pPr>
            <a:r>
              <a:t>  • Coverage: Supreme Court, Constitutional Court, all courts</a:t>
            </a:r>
          </a:p>
          <a:p>
            <a:pPr>
              <a:spcAft>
                <a:spcPts val="600"/>
              </a:spcAft>
              <a:defRPr sz="1600">
                <a:solidFill>
                  <a:srgbClr val="333333"/>
                </a:solidFill>
              </a:defRPr>
            </a:pPr>
            <a:r>
              <a:t># Argentina (SAIJ)</a:t>
            </a:r>
          </a:p>
          <a:p>
            <a:pPr lvl="1">
              <a:spcAft>
                <a:spcPts val="600"/>
              </a:spcAft>
              <a:defRPr sz="1200">
                <a:solidFill>
                  <a:srgbClr val="333333"/>
                </a:solidFill>
              </a:defRPr>
            </a:pPr>
            <a:r>
              <a:t>  • Cases: Comprehensive federal and provincial</a:t>
            </a:r>
          </a:p>
          <a:p>
            <a:pPr lvl="1">
              <a:spcAft>
                <a:spcPts val="600"/>
              </a:spcAft>
              <a:defRPr sz="1200">
                <a:solidFill>
                  <a:srgbClr val="333333"/>
                </a:solidFill>
              </a:defRPr>
            </a:pPr>
            <a:r>
              <a:t>  • Scrapability: 45%</a:t>
            </a:r>
          </a:p>
          <a:p>
            <a:pPr lvl="1">
              <a:spcAft>
                <a:spcPts val="600"/>
              </a:spcAft>
              <a:defRPr sz="1200">
                <a:solidFill>
                  <a:srgbClr val="333333"/>
                </a:solidFill>
              </a:defRPr>
            </a:pPr>
            <a:r>
              <a:t>  • System: National System of Argentine Legal Information</a:t>
            </a:r>
          </a:p>
          <a:p>
            <a:pPr lvl="1">
              <a:spcAft>
                <a:spcPts val="600"/>
              </a:spcAft>
              <a:defRPr sz="1200">
                <a:solidFill>
                  <a:srgbClr val="333333"/>
                </a:solidFill>
              </a:defRPr>
            </a:pPr>
            <a:r>
              <a:t>  • Language: Spanish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Regional Overview: CARIBBEAN</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Key Characteristics</a:t>
            </a:r>
          </a:p>
          <a:p>
            <a:pPr lvl="1">
              <a:spcAft>
                <a:spcPts val="600"/>
              </a:spcAft>
              <a:defRPr sz="1200">
                <a:solidFill>
                  <a:srgbClr val="333333"/>
                </a:solidFill>
              </a:defRPr>
            </a:pPr>
            <a:r>
              <a:t>  • Common Law: Strong British legal tradition</a:t>
            </a:r>
          </a:p>
          <a:p>
            <a:pPr lvl="1">
              <a:spcAft>
                <a:spcPts val="600"/>
              </a:spcAft>
              <a:defRPr sz="1200">
                <a:solidFill>
                  <a:srgbClr val="333333"/>
                </a:solidFill>
              </a:defRPr>
            </a:pPr>
            <a:r>
              <a:t>  • Access: Generally good via LII networks</a:t>
            </a:r>
          </a:p>
          <a:p>
            <a:pPr lvl="1">
              <a:spcAft>
                <a:spcPts val="600"/>
              </a:spcAft>
              <a:defRPr sz="1200">
                <a:solidFill>
                  <a:srgbClr val="333333"/>
                </a:solidFill>
              </a:defRPr>
            </a:pPr>
            <a:r>
              <a:t>  • Fee Systems: Party-and-party costs common</a:t>
            </a:r>
          </a:p>
          <a:p>
            <a:pPr>
              <a:spcAft>
                <a:spcPts val="600"/>
              </a:spcAft>
              <a:defRPr sz="1600">
                <a:solidFill>
                  <a:srgbClr val="333333"/>
                </a:solidFill>
              </a:defRPr>
            </a:pPr>
            <a:r>
              <a:t>Featured Sources</a:t>
            </a:r>
          </a:p>
          <a:p>
            <a:pPr>
              <a:spcAft>
                <a:spcPts val="600"/>
              </a:spcAft>
              <a:defRPr sz="1600">
                <a:solidFill>
                  <a:srgbClr val="333333"/>
                </a:solidFill>
              </a:defRPr>
            </a:pPr>
            <a:r>
              <a:t># Trinidad and Tobago (TTLII)</a:t>
            </a:r>
          </a:p>
          <a:p>
            <a:pPr lvl="1">
              <a:spcAft>
                <a:spcPts val="600"/>
              </a:spcAft>
              <a:defRPr sz="1200">
                <a:solidFill>
                  <a:srgbClr val="333333"/>
                </a:solidFill>
              </a:defRPr>
            </a:pPr>
            <a:r>
              <a:t>  • Cases: High Court, Court of Appeal, Magistrates</a:t>
            </a:r>
          </a:p>
          <a:p>
            <a:pPr lvl="1">
              <a:spcAft>
                <a:spcPts val="600"/>
              </a:spcAft>
              <a:defRPr sz="1200">
                <a:solidFill>
                  <a:srgbClr val="333333"/>
                </a:solidFill>
              </a:defRPr>
            </a:pPr>
            <a:r>
              <a:t>  • Scrapability: 55%</a:t>
            </a:r>
          </a:p>
          <a:p>
            <a:pPr lvl="1">
              <a:spcAft>
                <a:spcPts val="600"/>
              </a:spcAft>
              <a:defRPr sz="1200">
                <a:solidFill>
                  <a:srgbClr val="333333"/>
                </a:solidFill>
              </a:defRPr>
            </a:pPr>
            <a:r>
              <a:t>  • Regulations: Legal Profession (Scale of Costs) Regulations</a:t>
            </a:r>
          </a:p>
          <a:p>
            <a:pPr lvl="1">
              <a:spcAft>
                <a:spcPts val="600"/>
              </a:spcAft>
              <a:defRPr sz="1200">
                <a:solidFill>
                  <a:srgbClr val="333333"/>
                </a:solidFill>
              </a:defRPr>
            </a:pPr>
            <a:r>
              <a:t>  • Access: FREE via TTLII</a:t>
            </a:r>
          </a:p>
          <a:p>
            <a:pPr>
              <a:spcAft>
                <a:spcPts val="600"/>
              </a:spcAft>
              <a:defRPr sz="1600">
                <a:solidFill>
                  <a:srgbClr val="333333"/>
                </a:solidFill>
              </a:defRPr>
            </a:pPr>
            <a:r>
              <a:t># Jamaica (JMLII)</a:t>
            </a:r>
          </a:p>
          <a:p>
            <a:pPr lvl="1">
              <a:spcAft>
                <a:spcPts val="600"/>
              </a:spcAft>
              <a:defRPr sz="1200">
                <a:solidFill>
                  <a:srgbClr val="333333"/>
                </a:solidFill>
              </a:defRPr>
            </a:pPr>
            <a:r>
              <a:t>  • Cases: Supreme Court 1900+</a:t>
            </a:r>
          </a:p>
          <a:p>
            <a:pPr lvl="1">
              <a:spcAft>
                <a:spcPts val="600"/>
              </a:spcAft>
              <a:defRPr sz="1200">
                <a:solidFill>
                  <a:srgbClr val="333333"/>
                </a:solidFill>
              </a:defRPr>
            </a:pPr>
            <a:r>
              <a:t>  • Scrapability: 50%</a:t>
            </a:r>
          </a:p>
          <a:p>
            <a:pPr lvl="1">
              <a:spcAft>
                <a:spcPts val="600"/>
              </a:spcAft>
              <a:defRPr sz="1200">
                <a:solidFill>
                  <a:srgbClr val="333333"/>
                </a:solidFill>
              </a:defRPr>
            </a:pPr>
            <a:r>
              <a:t>  • Fee Data: Party-and-party costs scales</a:t>
            </a:r>
          </a:p>
          <a:p>
            <a:pPr lvl="1">
              <a:spcAft>
                <a:spcPts val="600"/>
              </a:spcAft>
              <a:defRPr sz="1200">
                <a:solidFill>
                  <a:srgbClr val="333333"/>
                </a:solidFill>
              </a:defRPr>
            </a:pPr>
            <a:r>
              <a:t>  • Access: FREE via JMLII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Fee Structure Patterns: Global Analysis</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Hourly Rate Systems</a:t>
            </a:r>
          </a:p>
          <a:p>
            <a:pPr>
              <a:spcAft>
                <a:spcPts val="600"/>
              </a:spcAft>
              <a:defRPr sz="1600" b="1">
                <a:solidFill>
                  <a:srgbClr val="333333"/>
                </a:solidFill>
              </a:defRPr>
            </a:pPr>
            <a:r>
              <a:t>  Countries: UK, US, Canada, Australia, Norway, Netherlands</a:t>
            </a:r>
          </a:p>
          <a:p>
            <a:pPr>
              <a:spcAft>
                <a:spcPts val="600"/>
              </a:spcAft>
              <a:defRPr sz="1600">
                <a:solidFill>
                  <a:srgbClr val="333333"/>
                </a:solidFill>
              </a:defRPr>
            </a:pPr>
            <a:r>
              <a:t>  Typical Ranges:</a:t>
            </a:r>
          </a:p>
          <a:p>
            <a:pPr lvl="1">
              <a:spcAft>
                <a:spcPts val="600"/>
              </a:spcAft>
              <a:defRPr sz="1200">
                <a:solidFill>
                  <a:srgbClr val="333333"/>
                </a:solidFill>
              </a:defRPr>
            </a:pPr>
            <a:r>
              <a:t>  • Junior lawyers: $150-300/hour (USD equivalent)</a:t>
            </a:r>
          </a:p>
          <a:p>
            <a:pPr lvl="1">
              <a:spcAft>
                <a:spcPts val="600"/>
              </a:spcAft>
              <a:defRPr sz="1200">
                <a:solidFill>
                  <a:srgbClr val="333333"/>
                </a:solidFill>
              </a:defRPr>
            </a:pPr>
            <a:r>
              <a:t>  • Mid-level: $250-500/hour</a:t>
            </a:r>
          </a:p>
          <a:p>
            <a:pPr lvl="1">
              <a:spcAft>
                <a:spcPts val="600"/>
              </a:spcAft>
              <a:defRPr sz="1200">
                <a:solidFill>
                  <a:srgbClr val="333333"/>
                </a:solidFill>
              </a:defRPr>
            </a:pPr>
            <a:r>
              <a:t>  • Senior/Partners: $400-1,000+/hour</a:t>
            </a:r>
          </a:p>
          <a:p>
            <a:pPr>
              <a:spcAft>
                <a:spcPts val="600"/>
              </a:spcAft>
              <a:defRPr sz="1600">
                <a:solidFill>
                  <a:srgbClr val="333333"/>
                </a:solidFill>
              </a:defRPr>
            </a:pPr>
            <a:r>
              <a:t>Statutory Fee Systems</a:t>
            </a:r>
          </a:p>
          <a:p>
            <a:pPr>
              <a:spcAft>
                <a:spcPts val="600"/>
              </a:spcAft>
              <a:defRPr sz="1600" b="1">
                <a:solidFill>
                  <a:srgbClr val="333333"/>
                </a:solidFill>
              </a:defRPr>
            </a:pPr>
            <a:r>
              <a:t>  Countries: Germany, Austria, Scotland, South Korea</a:t>
            </a:r>
          </a:p>
          <a:p>
            <a:pPr>
              <a:spcAft>
                <a:spcPts val="600"/>
              </a:spcAft>
              <a:defRPr sz="1600">
                <a:solidFill>
                  <a:srgbClr val="333333"/>
                </a:solidFill>
              </a:defRPr>
            </a:pPr>
            <a:r>
              <a:t>  Characteristics:</a:t>
            </a:r>
          </a:p>
          <a:p>
            <a:pPr lvl="1">
              <a:spcAft>
                <a:spcPts val="600"/>
              </a:spcAft>
              <a:defRPr sz="1200">
                <a:solidFill>
                  <a:srgbClr val="333333"/>
                </a:solidFill>
              </a:defRPr>
            </a:pPr>
            <a:r>
              <a:t>  • Fixed calculation formulas</a:t>
            </a:r>
          </a:p>
          <a:p>
            <a:pPr lvl="1">
              <a:spcAft>
                <a:spcPts val="600"/>
              </a:spcAft>
              <a:defRPr sz="1200">
                <a:solidFill>
                  <a:srgbClr val="333333"/>
                </a:solidFill>
              </a:defRPr>
            </a:pPr>
            <a:r>
              <a:t>  • Based on case value or complexity</a:t>
            </a:r>
          </a:p>
          <a:p>
            <a:pPr lvl="1">
              <a:spcAft>
                <a:spcPts val="600"/>
              </a:spcAft>
              <a:defRPr sz="1200">
                <a:solidFill>
                  <a:srgbClr val="333333"/>
                </a:solidFill>
              </a:defRPr>
            </a:pPr>
            <a:r>
              <a:t>  • Predictable and transparent</a:t>
            </a:r>
          </a:p>
          <a:p>
            <a:pPr>
              <a:spcAft>
                <a:spcPts val="600"/>
              </a:spcAft>
              <a:defRPr sz="1600">
                <a:solidFill>
                  <a:srgbClr val="333333"/>
                </a:solidFill>
              </a:defRPr>
            </a:pPr>
            <a:r>
              <a:t>Hybrid Systems</a:t>
            </a:r>
          </a:p>
          <a:p>
            <a:pPr>
              <a:spcAft>
                <a:spcPts val="600"/>
              </a:spcAft>
              <a:defRPr sz="1600" b="1">
                <a:solidFill>
                  <a:srgbClr val="333333"/>
                </a:solidFill>
              </a:defRPr>
            </a:pPr>
            <a:r>
              <a:t>  Countries: France, Poland, Thailand, Indonesia</a:t>
            </a:r>
          </a:p>
          <a:p>
            <a:pPr>
              <a:spcAft>
                <a:spcPts val="600"/>
              </a:spcAft>
              <a:defRPr sz="1600">
                <a:solidFill>
                  <a:srgbClr val="333333"/>
                </a:solidFill>
              </a:defRPr>
            </a:pPr>
            <a:r>
              <a:t>  Characteristics:</a:t>
            </a:r>
          </a:p>
          <a:p>
            <a:pPr lvl="1">
              <a:spcAft>
                <a:spcPts val="600"/>
              </a:spcAft>
              <a:defRPr sz="1200">
                <a:solidFill>
                  <a:srgbClr val="333333"/>
                </a:solidFill>
              </a:defRPr>
            </a:pPr>
            <a:r>
              <a:t>  • Combination of fixed and variable fees</a:t>
            </a:r>
          </a:p>
          <a:p>
            <a:pPr lvl="1">
              <a:spcAft>
                <a:spcPts val="600"/>
              </a:spcAft>
              <a:defRPr sz="1200">
                <a:solidFill>
                  <a:srgbClr val="333333"/>
                </a:solidFill>
              </a:defRPr>
            </a:pPr>
            <a:r>
              <a:t>  • Court-ordered costs + market rates</a:t>
            </a:r>
          </a:p>
          <a:p>
            <a:pPr lvl="1">
              <a:spcAft>
                <a:spcPts val="600"/>
              </a:spcAft>
              <a:defRPr sz="1200">
                <a:solidFill>
                  <a:srgbClr val="333333"/>
                </a:solidFill>
              </a:defRPr>
            </a:pPr>
            <a:r>
              <a:t>  • Often caps or minimums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Data Quality Assessment</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Excellent (70%+ Scrapability)</a:t>
            </a:r>
          </a:p>
          <a:p>
            <a:pPr>
              <a:spcAft>
                <a:spcPts val="600"/>
              </a:spcAft>
              <a:defRPr sz="1600">
                <a:solidFill>
                  <a:srgbClr val="333333"/>
                </a:solidFill>
              </a:defRPr>
            </a:pPr>
            <a:r>
              <a:t>  Jurisdictions:</a:t>
            </a:r>
          </a:p>
          <a:p>
            <a:pPr lvl="1">
              <a:spcAft>
                <a:spcPts val="600"/>
              </a:spcAft>
              <a:defRPr sz="1200">
                <a:solidFill>
                  <a:srgbClr val="333333"/>
                </a:solidFill>
              </a:defRPr>
            </a:pPr>
            <a:r>
              <a:t>  • South Africa (70%)</a:t>
            </a:r>
          </a:p>
          <a:p>
            <a:pPr lvl="1">
              <a:spcAft>
                <a:spcPts val="600"/>
              </a:spcAft>
              <a:defRPr sz="1200">
                <a:solidFill>
                  <a:srgbClr val="333333"/>
                </a:solidFill>
              </a:defRPr>
            </a:pPr>
            <a:r>
              <a:t>  • Kenya (75%)</a:t>
            </a:r>
          </a:p>
          <a:p>
            <a:pPr lvl="1">
              <a:spcAft>
                <a:spcPts val="600"/>
              </a:spcAft>
              <a:defRPr sz="1200">
                <a:solidFill>
                  <a:srgbClr val="333333"/>
                </a:solidFill>
              </a:defRPr>
            </a:pPr>
            <a:r>
              <a:t>  • Singapore (70% for taxation)</a:t>
            </a:r>
          </a:p>
          <a:p>
            <a:pPr lvl="1">
              <a:spcAft>
                <a:spcPts val="600"/>
              </a:spcAft>
              <a:defRPr sz="1200">
                <a:solidFill>
                  <a:srgbClr val="333333"/>
                </a:solidFill>
              </a:defRPr>
            </a:pPr>
            <a:r>
              <a:t>  • Germany (85%)</a:t>
            </a:r>
          </a:p>
          <a:p>
            <a:pPr>
              <a:spcAft>
                <a:spcPts val="600"/>
              </a:spcAft>
              <a:defRPr sz="1600">
                <a:solidFill>
                  <a:srgbClr val="333333"/>
                </a:solidFill>
              </a:defRPr>
            </a:pPr>
            <a:r>
              <a:t>Good (50-70% Scrapability)</a:t>
            </a:r>
          </a:p>
          <a:p>
            <a:pPr>
              <a:spcAft>
                <a:spcPts val="600"/>
              </a:spcAft>
              <a:defRPr sz="1600">
                <a:solidFill>
                  <a:srgbClr val="333333"/>
                </a:solidFill>
              </a:defRPr>
            </a:pPr>
            <a:r>
              <a:t>  Jurisdictions:</a:t>
            </a:r>
          </a:p>
          <a:p>
            <a:pPr lvl="1">
              <a:spcAft>
                <a:spcPts val="600"/>
              </a:spcAft>
              <a:defRPr sz="1200">
                <a:solidFill>
                  <a:srgbClr val="333333"/>
                </a:solidFill>
              </a:defRPr>
            </a:pPr>
            <a:r>
              <a:t>  • Australia (65%)</a:t>
            </a:r>
          </a:p>
          <a:p>
            <a:pPr lvl="1">
              <a:spcAft>
                <a:spcPts val="600"/>
              </a:spcAft>
              <a:defRPr sz="1200">
                <a:solidFill>
                  <a:srgbClr val="333333"/>
                </a:solidFill>
              </a:defRPr>
            </a:pPr>
            <a:r>
              <a:t>  • Uganda (65%)</a:t>
            </a:r>
          </a:p>
          <a:p>
            <a:pPr lvl="1">
              <a:spcAft>
                <a:spcPts val="600"/>
              </a:spcAft>
              <a:defRPr sz="1200">
                <a:solidFill>
                  <a:srgbClr val="333333"/>
                </a:solidFill>
              </a:defRPr>
            </a:pPr>
            <a:r>
              <a:t>  • Tanzania (60%)</a:t>
            </a:r>
          </a:p>
          <a:p>
            <a:pPr lvl="1">
              <a:spcAft>
                <a:spcPts val="600"/>
              </a:spcAft>
              <a:defRPr sz="1200">
                <a:solidFill>
                  <a:srgbClr val="333333"/>
                </a:solidFill>
              </a:defRPr>
            </a:pPr>
            <a:r>
              <a:t>  • Morocco (60%)</a:t>
            </a:r>
          </a:p>
          <a:p>
            <a:pPr>
              <a:spcAft>
                <a:spcPts val="600"/>
              </a:spcAft>
              <a:defRPr sz="1600">
                <a:solidFill>
                  <a:srgbClr val="333333"/>
                </a:solidFill>
              </a:defRPr>
            </a:pPr>
            <a:r>
              <a:t>Moderate (30-50% Scrapability)</a:t>
            </a:r>
          </a:p>
          <a:p>
            <a:pPr>
              <a:spcAft>
                <a:spcPts val="600"/>
              </a:spcAft>
              <a:defRPr sz="1600">
                <a:solidFill>
                  <a:srgbClr val="333333"/>
                </a:solidFill>
              </a:defRPr>
            </a:pPr>
            <a:r>
              <a:t>  Jurisdictions:</a:t>
            </a:r>
          </a:p>
          <a:p>
            <a:pPr lvl="1">
              <a:spcAft>
                <a:spcPts val="600"/>
              </a:spcAft>
              <a:defRPr sz="1200">
                <a:solidFill>
                  <a:srgbClr val="333333"/>
                </a:solidFill>
              </a:defRPr>
            </a:pPr>
            <a:r>
              <a:t>  • UK general cases (30-40%)</a:t>
            </a:r>
          </a:p>
          <a:p>
            <a:pPr lvl="1">
              <a:spcAft>
                <a:spcPts val="600"/>
              </a:spcAft>
              <a:defRPr sz="1200">
                <a:solidFill>
                  <a:srgbClr val="333333"/>
                </a:solidFill>
              </a:defRPr>
            </a:pPr>
            <a:r>
              <a:t>  • Netherlands (40%)</a:t>
            </a:r>
          </a:p>
          <a:p>
            <a:pPr lvl="1">
              <a:spcAft>
                <a:spcPts val="600"/>
              </a:spcAft>
              <a:defRPr sz="1200">
                <a:solidFill>
                  <a:srgbClr val="333333"/>
                </a:solidFill>
              </a:defRPr>
            </a:pPr>
            <a:r>
              <a:t>  • Vietnam (40%)</a:t>
            </a:r>
          </a:p>
          <a:p>
            <a:pPr lvl="1">
              <a:spcAft>
                <a:spcPts val="600"/>
              </a:spcAft>
              <a:defRPr sz="1200">
                <a:solidFill>
                  <a:srgbClr val="333333"/>
                </a:solidFill>
              </a:defRPr>
            </a:pPr>
            <a:r>
              <a:t>  • Brazil (40%)</a:t>
            </a:r>
          </a:p>
          <a:p>
            <a:pPr>
              <a:spcAft>
                <a:spcPts val="600"/>
              </a:spcAft>
              <a:defRPr sz="1600">
                <a:solidFill>
                  <a:srgbClr val="333333"/>
                </a:solidFill>
              </a:defRPr>
            </a:pPr>
            <a:r>
              <a:t>Limited (&lt;30% Scrapability)</a:t>
            </a:r>
          </a:p>
          <a:p>
            <a:pPr>
              <a:spcAft>
                <a:spcPts val="600"/>
              </a:spcAft>
              <a:defRPr sz="1600">
                <a:solidFill>
                  <a:srgbClr val="333333"/>
                </a:solidFill>
              </a:defRPr>
            </a:pPr>
            <a:r>
              <a:t>  Jurisdictions:</a:t>
            </a:r>
          </a:p>
          <a:p>
            <a:pPr lvl="1">
              <a:spcAft>
                <a:spcPts val="600"/>
              </a:spcAft>
              <a:defRPr sz="1200">
                <a:solidFill>
                  <a:srgbClr val="333333"/>
                </a:solidFill>
              </a:defRPr>
            </a:pPr>
            <a:r>
              <a:t>  • India (10-15%)</a:t>
            </a:r>
          </a:p>
          <a:p>
            <a:pPr lvl="1">
              <a:spcAft>
                <a:spcPts val="600"/>
              </a:spcAft>
              <a:defRPr sz="1200">
                <a:solidFill>
                  <a:srgbClr val="333333"/>
                </a:solidFill>
              </a:defRPr>
            </a:pPr>
            <a:r>
              <a:t>  • Japan (5%)</a:t>
            </a:r>
          </a:p>
          <a:p>
            <a:pPr lvl="1">
              <a:spcAft>
                <a:spcPts val="600"/>
              </a:spcAft>
              <a:defRPr sz="1200">
                <a:solidFill>
                  <a:srgbClr val="333333"/>
                </a:solidFill>
              </a:defRPr>
            </a:pPr>
            <a:r>
              <a:t>  • France (15%)</a:t>
            </a:r>
          </a:p>
          <a:p>
            <a:pPr lvl="1">
              <a:spcAft>
                <a:spcPts val="600"/>
              </a:spcAft>
              <a:defRPr sz="1200">
                <a:solidFill>
                  <a:srgbClr val="333333"/>
                </a:solidFill>
              </a:defRPr>
            </a:pPr>
            <a:r>
              <a:t>  • Iceland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Technical Considerations</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API Access Available</a:t>
            </a:r>
          </a:p>
          <a:p>
            <a:pPr lvl="1">
              <a:spcAft>
                <a:spcPts val="600"/>
              </a:spcAft>
              <a:defRPr sz="1200">
                <a:solidFill>
                  <a:srgbClr val="333333"/>
                </a:solidFill>
              </a:defRPr>
            </a:pPr>
            <a:r>
              <a:t>  • Germany: Open Legal Data API</a:t>
            </a:r>
          </a:p>
          <a:p>
            <a:pPr lvl="1">
              <a:spcAft>
                <a:spcPts val="600"/>
              </a:spcAft>
              <a:defRPr sz="1200">
                <a:solidFill>
                  <a:srgbClr val="333333"/>
                </a:solidFill>
              </a:defRPr>
            </a:pPr>
            <a:r>
              <a:t>  • Colombia: Rama Judicial API</a:t>
            </a:r>
          </a:p>
          <a:p>
            <a:pPr lvl="1">
              <a:spcAft>
                <a:spcPts val="600"/>
              </a:spcAft>
              <a:defRPr sz="1200">
                <a:solidFill>
                  <a:srgbClr val="333333"/>
                </a:solidFill>
              </a:defRPr>
            </a:pPr>
            <a:r>
              <a:t>  • United States: CourtListener API, Court Case Access API</a:t>
            </a:r>
          </a:p>
          <a:p>
            <a:pPr lvl="1">
              <a:spcAft>
                <a:spcPts val="600"/>
              </a:spcAft>
              <a:defRPr sz="1200">
                <a:solidFill>
                  <a:srgbClr val="333333"/>
                </a:solidFill>
              </a:defRPr>
            </a:pPr>
            <a:r>
              <a:t>  • Switzerland: Federal Supreme Court Dataset (CSV/Parquet)</a:t>
            </a:r>
          </a:p>
          <a:p>
            <a:pPr>
              <a:spcAft>
                <a:spcPts val="600"/>
              </a:spcAft>
              <a:defRPr sz="1600">
                <a:solidFill>
                  <a:srgbClr val="333333"/>
                </a:solidFill>
              </a:defRPr>
            </a:pPr>
            <a:r>
              <a:t>Bulk Download Options</a:t>
            </a:r>
          </a:p>
          <a:p>
            <a:pPr lvl="1">
              <a:spcAft>
                <a:spcPts val="600"/>
              </a:spcAft>
              <a:defRPr sz="1200">
                <a:solidFill>
                  <a:srgbClr val="333333"/>
                </a:solidFill>
              </a:defRPr>
            </a:pPr>
            <a:r>
              <a:t>  • United States: PACER bulk data</a:t>
            </a:r>
          </a:p>
          <a:p>
            <a:pPr lvl="1">
              <a:spcAft>
                <a:spcPts val="600"/>
              </a:spcAft>
              <a:defRPr sz="1200">
                <a:solidFill>
                  <a:srgbClr val="333333"/>
                </a:solidFill>
              </a:defRPr>
            </a:pPr>
            <a:r>
              <a:t>  • Germany: Open Legal Data bulk downloads</a:t>
            </a:r>
          </a:p>
          <a:p>
            <a:pPr lvl="1">
              <a:spcAft>
                <a:spcPts val="600"/>
              </a:spcAft>
              <a:defRPr sz="1200">
                <a:solidFill>
                  <a:srgbClr val="333333"/>
                </a:solidFill>
              </a:defRPr>
            </a:pPr>
            <a:r>
              <a:t>  • Switzerland: Complete dataset downloads</a:t>
            </a:r>
          </a:p>
          <a:p>
            <a:pPr lvl="1">
              <a:spcAft>
                <a:spcPts val="600"/>
              </a:spcAft>
              <a:defRPr sz="1200">
                <a:solidFill>
                  <a:srgbClr val="333333"/>
                </a:solidFill>
              </a:defRPr>
            </a:pPr>
            <a:r>
              <a:t>  • Brazil: JusBrasil data access</a:t>
            </a:r>
          </a:p>
          <a:p>
            <a:pPr>
              <a:spcAft>
                <a:spcPts val="600"/>
              </a:spcAft>
              <a:defRPr sz="1600">
                <a:solidFill>
                  <a:srgbClr val="333333"/>
                </a:solidFill>
              </a:defRPr>
            </a:pPr>
            <a:r>
              <a:t>Structured Data Formats</a:t>
            </a:r>
          </a:p>
          <a:p>
            <a:pPr>
              <a:spcAft>
                <a:spcPts val="600"/>
              </a:spcAft>
              <a:defRPr sz="1600" b="1">
                <a:solidFill>
                  <a:srgbClr val="333333"/>
                </a:solidFill>
              </a:defRPr>
            </a:pPr>
            <a:r>
              <a:t>  XML: Austria (RIS), Germany, some US courts</a:t>
            </a:r>
          </a:p>
          <a:p>
            <a:pPr>
              <a:spcAft>
                <a:spcPts val="600"/>
              </a:spcAft>
              <a:defRPr sz="1600" b="1">
                <a:solidFill>
                  <a:srgbClr val="333333"/>
                </a:solidFill>
              </a:defRPr>
            </a:pPr>
            <a:r>
              <a:t>  CSV/Parquet: Switzerland Federal Supreme Court</a:t>
            </a:r>
          </a:p>
          <a:p>
            <a:pPr>
              <a:spcAft>
                <a:spcPts val="600"/>
              </a:spcAft>
              <a:defRPr sz="1600" b="1">
                <a:solidFill>
                  <a:srgbClr val="333333"/>
                </a:solidFill>
              </a:defRPr>
            </a:pPr>
            <a:r>
              <a:t>  JSON: Various APIs (CourtListener, Open Legal Data)</a:t>
            </a:r>
          </a:p>
          <a:p>
            <a:pPr>
              <a:spcAft>
                <a:spcPts val="600"/>
              </a:spcAft>
              <a:defRPr sz="1600" b="1">
                <a:solidFill>
                  <a:srgbClr val="333333"/>
                </a:solidFill>
              </a:defRPr>
            </a:pPr>
            <a:r>
              <a:t>  HTML: Most jurisdictions</a:t>
            </a:r>
          </a:p>
          <a:p>
            <a:pPr>
              <a:spcAft>
                <a:spcPts val="600"/>
              </a:spcAft>
              <a:defRPr sz="1600" b="1">
                <a:solidFill>
                  <a:srgbClr val="333333"/>
                </a:solidFill>
              </a:defRPr>
            </a:pPr>
            <a:r>
              <a:t>  PDF: Universal but requires extraction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Challenges Identified</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Language Barriers</a:t>
            </a:r>
          </a:p>
          <a:p>
            <a:pPr>
              <a:spcAft>
                <a:spcPts val="600"/>
              </a:spcAft>
              <a:defRPr sz="1600">
                <a:solidFill>
                  <a:srgbClr val="333333"/>
                </a:solidFill>
              </a:defRPr>
            </a:pPr>
            <a:r>
              <a:t>  High Impact:</a:t>
            </a:r>
          </a:p>
          <a:p>
            <a:pPr lvl="1">
              <a:spcAft>
                <a:spcPts val="600"/>
              </a:spcAft>
              <a:defRPr sz="1200">
                <a:solidFill>
                  <a:srgbClr val="333333"/>
                </a:solidFill>
              </a:defRPr>
            </a:pPr>
            <a:r>
              <a:t>  • South Korea (Korean)</a:t>
            </a:r>
          </a:p>
          <a:p>
            <a:pPr lvl="1">
              <a:spcAft>
                <a:spcPts val="600"/>
              </a:spcAft>
              <a:defRPr sz="1200">
                <a:solidFill>
                  <a:srgbClr val="333333"/>
                </a:solidFill>
              </a:defRPr>
            </a:pPr>
            <a:r>
              <a:t>  • Japan (Japanese)</a:t>
            </a:r>
          </a:p>
          <a:p>
            <a:pPr lvl="1">
              <a:spcAft>
                <a:spcPts val="600"/>
              </a:spcAft>
              <a:defRPr sz="1200">
                <a:solidFill>
                  <a:srgbClr val="333333"/>
                </a:solidFill>
              </a:defRPr>
            </a:pPr>
            <a:r>
              <a:t>  • Iceland (Icelandic)</a:t>
            </a:r>
          </a:p>
          <a:p>
            <a:pPr lvl="1">
              <a:spcAft>
                <a:spcPts val="600"/>
              </a:spcAft>
              <a:defRPr sz="1200">
                <a:solidFill>
                  <a:srgbClr val="333333"/>
                </a:solidFill>
              </a:defRPr>
            </a:pPr>
            <a:r>
              <a:t>  • Israel (Hebrew)</a:t>
            </a:r>
          </a:p>
          <a:p>
            <a:pPr>
              <a:spcAft>
                <a:spcPts val="600"/>
              </a:spcAft>
              <a:defRPr sz="1600">
                <a:solidFill>
                  <a:srgbClr val="333333"/>
                </a:solidFill>
              </a:defRPr>
            </a:pPr>
            <a:r>
              <a:t>Access Restrictions</a:t>
            </a:r>
          </a:p>
          <a:p>
            <a:pPr>
              <a:spcAft>
                <a:spcPts val="600"/>
              </a:spcAft>
              <a:defRPr sz="1600">
                <a:solidFill>
                  <a:srgbClr val="333333"/>
                </a:solidFill>
              </a:defRPr>
            </a:pPr>
            <a:r>
              <a:t>  Subscription Required:</a:t>
            </a:r>
          </a:p>
          <a:p>
            <a:pPr lvl="1">
              <a:spcAft>
                <a:spcPts val="600"/>
              </a:spcAft>
              <a:defRPr sz="1200">
                <a:solidFill>
                  <a:srgbClr val="333333"/>
                </a:solidFill>
              </a:defRPr>
            </a:pPr>
            <a:r>
              <a:t>  • Norway (Lovdata) - cases &gt;3 months old</a:t>
            </a:r>
          </a:p>
          <a:p>
            <a:pPr lvl="1">
              <a:spcAft>
                <a:spcPts val="600"/>
              </a:spcAft>
              <a:defRPr sz="1200">
                <a:solidFill>
                  <a:srgbClr val="333333"/>
                </a:solidFill>
              </a:defRPr>
            </a:pPr>
            <a:r>
              <a:t>  • Israel (HeinOnline)</a:t>
            </a:r>
          </a:p>
          <a:p>
            <a:pPr lvl="1">
              <a:spcAft>
                <a:spcPts val="600"/>
              </a:spcAft>
              <a:defRPr sz="1200">
                <a:solidFill>
                  <a:srgbClr val="333333"/>
                </a:solidFill>
              </a:defRPr>
            </a:pPr>
            <a:r>
              <a:t>  • Vietnam (CaseLaw.vn for pre-2017)</a:t>
            </a:r>
          </a:p>
          <a:p>
            <a:pPr lvl="1">
              <a:spcAft>
                <a:spcPts val="600"/>
              </a:spcAft>
              <a:defRPr sz="1200">
                <a:solidFill>
                  <a:srgbClr val="333333"/>
                </a:solidFill>
              </a:defRPr>
            </a:pPr>
            <a:r>
              <a:t>  • Various commercial databases</a:t>
            </a:r>
          </a:p>
          <a:p>
            <a:pPr>
              <a:spcAft>
                <a:spcPts val="600"/>
              </a:spcAft>
              <a:defRPr sz="1600">
                <a:solidFill>
                  <a:srgbClr val="333333"/>
                </a:solidFill>
              </a:defRPr>
            </a:pPr>
            <a:r>
              <a:t>Data Format Issues</a:t>
            </a:r>
          </a:p>
          <a:p>
            <a:pPr>
              <a:spcAft>
                <a:spcPts val="600"/>
              </a:spcAft>
              <a:defRPr sz="1600">
                <a:solidFill>
                  <a:srgbClr val="333333"/>
                </a:solidFill>
              </a:defRPr>
            </a:pPr>
            <a:r>
              <a:t>  PDF-Only Sources:</a:t>
            </a:r>
          </a:p>
          <a:p>
            <a:pPr lvl="1">
              <a:spcAft>
                <a:spcPts val="600"/>
              </a:spcAft>
              <a:defRPr sz="1200">
                <a:solidFill>
                  <a:srgbClr val="333333"/>
                </a:solidFill>
              </a:defRPr>
            </a:pPr>
            <a:r>
              <a:t>  • Many lower courts worldwide</a:t>
            </a:r>
          </a:p>
          <a:p>
            <a:pPr lvl="1">
              <a:spcAft>
                <a:spcPts val="600"/>
              </a:spcAft>
              <a:defRPr sz="1200">
                <a:solidFill>
                  <a:srgbClr val="333333"/>
                </a:solidFill>
              </a:defRPr>
            </a:pPr>
            <a:r>
              <a:t>  • Requires OCR/extraction</a:t>
            </a:r>
          </a:p>
          <a:p>
            <a:pPr lvl="1">
              <a:spcAft>
                <a:spcPts val="600"/>
              </a:spcAft>
              <a:defRPr sz="1200">
                <a:solidFill>
                  <a:srgbClr val="333333"/>
                </a:solidFill>
              </a:defRPr>
            </a:pPr>
            <a:r>
              <a:t>  • May have scanning quality issues</a:t>
            </a:r>
          </a:p>
          <a:p>
            <a:pPr>
              <a:spcAft>
                <a:spcPts val="600"/>
              </a:spcAft>
              <a:defRPr sz="1600">
                <a:solidFill>
                  <a:srgbClr val="333333"/>
                </a:solidFill>
              </a:defRPr>
            </a:pPr>
            <a:r>
              <a:t>  No Centralized Database:</a:t>
            </a:r>
          </a:p>
          <a:p>
            <a:pPr>
              <a:spcAft>
                <a:spcPts val="600"/>
              </a:spcAft>
              <a:defRPr sz="1600">
                <a:solidFill>
                  <a:srgbClr val="333333"/>
                </a:solidFill>
              </a:defRPr>
            </a:pPr>
            <a:r>
              <a:t>Legal System Differences</a:t>
            </a:r>
          </a:p>
          <a:p>
            <a:pPr>
              <a:spcAft>
                <a:spcPts val="600"/>
              </a:spcAft>
              <a:defRPr sz="1600">
                <a:solidFill>
                  <a:srgbClr val="333333"/>
                </a:solidFill>
              </a:defRPr>
            </a:pPr>
            <a:r>
              <a:t>  Fees Not Commonly Awarded:</a:t>
            </a:r>
          </a:p>
          <a:p>
            <a:pPr lvl="1">
              <a:spcAft>
                <a:spcPts val="600"/>
              </a:spcAft>
              <a:defRPr sz="1200">
                <a:solidFill>
                  <a:srgbClr val="333333"/>
                </a:solidFill>
              </a:defRPr>
            </a:pPr>
            <a:r>
              <a:t>  • India (10% in tort only)</a:t>
            </a:r>
          </a:p>
          <a:p>
            <a:pPr lvl="1">
              <a:spcAft>
                <a:spcPts val="600"/>
              </a:spcAft>
              <a:defRPr sz="1200">
                <a:solidFill>
                  <a:srgbClr val="333333"/>
                </a:solidFill>
              </a:defRPr>
            </a:pPr>
            <a:r>
              <a:t>  • Japan (10% in tort only)</a:t>
            </a:r>
          </a:p>
          <a:p>
            <a:pPr lvl="1">
              <a:spcAft>
                <a:spcPts val="600"/>
              </a:spcAft>
              <a:defRPr sz="1200">
                <a:solidFill>
                  <a:srgbClr val="333333"/>
                </a:solidFill>
              </a:defRPr>
            </a:pPr>
            <a:r>
              <a:t>  • France (limited Article 700 awards)</a:t>
            </a:r>
          </a:p>
          <a:p>
            <a:pPr>
              <a:spcAft>
                <a:spcPts val="600"/>
              </a:spcAft>
              <a:defRPr sz="1600">
                <a:solidFill>
                  <a:srgbClr val="333333"/>
                </a:solidFill>
              </a:defRPr>
            </a:pPr>
            <a:r>
              <a:t>  Party-Pays-Own System: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Opportunities for Data Collection</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Tier 1: High Priority (Immediate Value)</a:t>
            </a:r>
          </a:p>
          <a:p>
            <a:pPr>
              <a:spcAft>
                <a:spcPts val="600"/>
              </a:spcAft>
              <a:defRPr sz="1600" b="1">
                <a:solidFill>
                  <a:srgbClr val="333333"/>
                </a:solidFill>
              </a:defRPr>
            </a:pPr>
            <a:r>
              <a:t>  Characteristics: High scrapability (60%+), large case volumes, clear fee data</a:t>
            </a:r>
          </a:p>
          <a:p>
            <a:pPr>
              <a:spcAft>
                <a:spcPts val="600"/>
              </a:spcAft>
              <a:defRPr sz="1600">
                <a:solidFill>
                  <a:srgbClr val="333333"/>
                </a:solidFill>
              </a:defRPr>
            </a:pPr>
            <a:r>
              <a:t>  Jurisdictions:</a:t>
            </a:r>
          </a:p>
          <a:p>
            <a:pPr>
              <a:spcAft>
                <a:spcPts val="600"/>
              </a:spcAft>
              <a:defRPr sz="1600" b="1">
                <a:solidFill>
                  <a:srgbClr val="333333"/>
                </a:solidFill>
              </a:defRPr>
            </a:pPr>
            <a:r>
              <a:t>  1. Kenya - 75% scrapability, 300,000 cases, specific amounts</a:t>
            </a:r>
          </a:p>
          <a:p>
            <a:pPr>
              <a:spcAft>
                <a:spcPts val="600"/>
              </a:spcAft>
              <a:defRPr sz="1600" b="1">
                <a:solidFill>
                  <a:srgbClr val="333333"/>
                </a:solidFill>
              </a:defRPr>
            </a:pPr>
            <a:r>
              <a:t>  2. Singapore - 70% for taxation cases</a:t>
            </a:r>
          </a:p>
          <a:p>
            <a:pPr>
              <a:spcAft>
                <a:spcPts val="600"/>
              </a:spcAft>
              <a:defRPr sz="1600" b="1">
                <a:solidFill>
                  <a:srgbClr val="333333"/>
                </a:solidFill>
              </a:defRPr>
            </a:pPr>
            <a:r>
              <a:t>  3. South Africa - 70%, clear rate structures</a:t>
            </a:r>
          </a:p>
          <a:p>
            <a:pPr>
              <a:spcAft>
                <a:spcPts val="600"/>
              </a:spcAft>
              <a:defRPr sz="1600">
                <a:solidFill>
                  <a:srgbClr val="333333"/>
                </a:solidFill>
              </a:defRPr>
            </a:pPr>
            <a:r>
              <a:t>Tier 2: Medium Priority (Good Value)</a:t>
            </a:r>
          </a:p>
          <a:p>
            <a:pPr>
              <a:spcAft>
                <a:spcPts val="600"/>
              </a:spcAft>
              <a:defRPr sz="1600" b="1">
                <a:solidFill>
                  <a:srgbClr val="333333"/>
                </a:solidFill>
              </a:defRPr>
            </a:pPr>
            <a:r>
              <a:t>  Characteristics: Moderate scrapability (40-60%), good documentation</a:t>
            </a:r>
          </a:p>
          <a:p>
            <a:pPr>
              <a:spcAft>
                <a:spcPts val="600"/>
              </a:spcAft>
              <a:defRPr sz="1600">
                <a:solidFill>
                  <a:srgbClr val="333333"/>
                </a:solidFill>
              </a:defRPr>
            </a:pPr>
            <a:r>
              <a:t>  Jurisdictions:</a:t>
            </a:r>
          </a:p>
          <a:p>
            <a:pPr>
              <a:spcAft>
                <a:spcPts val="600"/>
              </a:spcAft>
              <a:defRPr sz="1600" b="1">
                <a:solidFill>
                  <a:srgbClr val="333333"/>
                </a:solidFill>
              </a:defRPr>
            </a:pPr>
            <a:r>
              <a:t>  1. Australia - 65%, comprehensive coverage</a:t>
            </a:r>
          </a:p>
          <a:p>
            <a:pPr>
              <a:spcAft>
                <a:spcPts val="600"/>
              </a:spcAft>
              <a:defRPr sz="1600" b="1">
                <a:solidFill>
                  <a:srgbClr val="333333"/>
                </a:solidFill>
              </a:defRPr>
            </a:pPr>
            <a:r>
              <a:t>  2. Uganda - 65%, specific taxed amounts</a:t>
            </a:r>
          </a:p>
          <a:p>
            <a:pPr>
              <a:spcAft>
                <a:spcPts val="600"/>
              </a:spcAft>
              <a:defRPr sz="1600" b="1">
                <a:solidFill>
                  <a:srgbClr val="333333"/>
                </a:solidFill>
              </a:defRPr>
            </a:pPr>
            <a:r>
              <a:t>  3. Tanzania - 60%, statutory schedules</a:t>
            </a:r>
          </a:p>
          <a:p>
            <a:pPr>
              <a:spcAft>
                <a:spcPts val="600"/>
              </a:spcAft>
              <a:defRPr sz="1600">
                <a:solidFill>
                  <a:srgbClr val="333333"/>
                </a:solidFill>
              </a:defRPr>
            </a:pPr>
            <a:r>
              <a:t>Tier 3: Strategic Priority (Growth Potential)</a:t>
            </a:r>
          </a:p>
          <a:p>
            <a:pPr>
              <a:spcAft>
                <a:spcPts val="600"/>
              </a:spcAft>
              <a:defRPr sz="1600" b="1">
                <a:solidFill>
                  <a:srgbClr val="333333"/>
                </a:solidFill>
              </a:defRPr>
            </a:pPr>
            <a:r>
              <a:t>  Characteristics: Improving infrastructure, emerging data</a:t>
            </a:r>
          </a:p>
          <a:p>
            <a:pPr>
              <a:spcAft>
                <a:spcPts val="600"/>
              </a:spcAft>
              <a:defRPr sz="1600">
                <a:solidFill>
                  <a:srgbClr val="333333"/>
                </a:solidFill>
              </a:defRPr>
            </a:pPr>
            <a:r>
              <a:t>  Jurisdictions:</a:t>
            </a:r>
          </a:p>
          <a:p>
            <a:pPr>
              <a:spcAft>
                <a:spcPts val="600"/>
              </a:spcAft>
              <a:defRPr sz="1600" b="1">
                <a:solidFill>
                  <a:srgbClr val="333333"/>
                </a:solidFill>
              </a:defRPr>
            </a:pPr>
            <a:r>
              <a:t>  1. Brazil - 40%, 140M documents</a:t>
            </a:r>
          </a:p>
          <a:p>
            <a:pPr>
              <a:spcAft>
                <a:spcPts val="600"/>
              </a:spcAft>
              <a:defRPr sz="1600" b="1">
                <a:solidFill>
                  <a:srgbClr val="333333"/>
                </a:solidFill>
              </a:defRPr>
            </a:pPr>
            <a:r>
              <a:t>  2. Morocco - 60%, new platform (2022)</a:t>
            </a:r>
          </a:p>
          <a:p>
            <a:pPr>
              <a:spcAft>
                <a:spcPts val="600"/>
              </a:spcAft>
              <a:defRPr sz="1600" b="1">
                <a:solidFill>
                  <a:srgbClr val="333333"/>
                </a:solidFill>
              </a:defRPr>
            </a:pPr>
            <a:r>
              <a:t>  3. Philippines - 30%, comprehensive 1901-present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Regional Investment Recommendations</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Europe</a:t>
            </a:r>
          </a:p>
          <a:p>
            <a:pPr>
              <a:spcAft>
                <a:spcPts val="600"/>
              </a:spcAft>
              <a:defRPr sz="1600" b="1">
                <a:solidFill>
                  <a:srgbClr val="333333"/>
                </a:solidFill>
              </a:defRPr>
            </a:pPr>
            <a:r>
              <a:t>  Recommendation: Focus on statutory fee systems first</a:t>
            </a:r>
          </a:p>
          <a:p>
            <a:pPr>
              <a:spcAft>
                <a:spcPts val="600"/>
              </a:spcAft>
              <a:defRPr sz="1600">
                <a:solidFill>
                  <a:srgbClr val="333333"/>
                </a:solidFill>
              </a:defRPr>
            </a:pPr>
            <a:r>
              <a:t>  Priority Targets:</a:t>
            </a:r>
          </a:p>
          <a:p>
            <a:pPr lvl="1">
              <a:spcAft>
                <a:spcPts val="600"/>
              </a:spcAft>
              <a:defRPr sz="1200">
                <a:solidFill>
                  <a:srgbClr val="333333"/>
                </a:solidFill>
              </a:defRPr>
            </a:pPr>
            <a:r>
              <a:t>  • Germany (RVG structure) - Quick wins with calculators</a:t>
            </a:r>
          </a:p>
          <a:p>
            <a:pPr lvl="1">
              <a:spcAft>
                <a:spcPts val="600"/>
              </a:spcAft>
              <a:defRPr sz="1200">
                <a:solidFill>
                  <a:srgbClr val="333333"/>
                </a:solidFill>
              </a:defRPr>
            </a:pPr>
            <a:r>
              <a:t>  • Austria (RATG tariff) - Complete structured data</a:t>
            </a:r>
          </a:p>
          <a:p>
            <a:pPr lvl="1">
              <a:spcAft>
                <a:spcPts val="600"/>
              </a:spcAft>
              <a:defRPr sz="1200">
                <a:solidFill>
                  <a:srgbClr val="333333"/>
                </a:solidFill>
              </a:defRPr>
            </a:pPr>
            <a:r>
              <a:t>  • UK Costs Section (BAILII) - 95% scrapability</a:t>
            </a:r>
          </a:p>
          <a:p>
            <a:pPr>
              <a:spcAft>
                <a:spcPts val="600"/>
              </a:spcAft>
              <a:defRPr sz="1600">
                <a:solidFill>
                  <a:srgbClr val="333333"/>
                </a:solidFill>
              </a:defRPr>
            </a:pPr>
            <a:r>
              <a:t>Asia</a:t>
            </a:r>
          </a:p>
          <a:p>
            <a:pPr>
              <a:spcAft>
                <a:spcPts val="600"/>
              </a:spcAft>
              <a:defRPr sz="1600" b="1">
                <a:solidFill>
                  <a:srgbClr val="333333"/>
                </a:solidFill>
              </a:defRPr>
            </a:pPr>
            <a:r>
              <a:t>  Recommendation: Selective targeting based on language capacity</a:t>
            </a:r>
          </a:p>
          <a:p>
            <a:pPr>
              <a:spcAft>
                <a:spcPts val="600"/>
              </a:spcAft>
              <a:defRPr sz="1600">
                <a:solidFill>
                  <a:srgbClr val="333333"/>
                </a:solidFill>
              </a:defRPr>
            </a:pPr>
            <a:r>
              <a:t>  Priority Targets:</a:t>
            </a:r>
          </a:p>
          <a:p>
            <a:pPr lvl="1">
              <a:spcAft>
                <a:spcPts val="600"/>
              </a:spcAft>
              <a:defRPr sz="1200">
                <a:solidFill>
                  <a:srgbClr val="333333"/>
                </a:solidFill>
              </a:defRPr>
            </a:pPr>
            <a:r>
              <a:t>  • Singapore - Best English-language source, taxation cases</a:t>
            </a:r>
          </a:p>
          <a:p>
            <a:pPr lvl="1">
              <a:spcAft>
                <a:spcPts val="600"/>
              </a:spcAft>
              <a:defRPr sz="1200">
                <a:solidFill>
                  <a:srgbClr val="333333"/>
                </a:solidFill>
              </a:defRPr>
            </a:pPr>
            <a:r>
              <a:t>  • Vietnam - Recent mandatory publication (2017+)</a:t>
            </a:r>
          </a:p>
          <a:p>
            <a:pPr lvl="1">
              <a:spcAft>
                <a:spcPts val="600"/>
              </a:spcAft>
              <a:defRPr sz="1200">
                <a:solidFill>
                  <a:srgbClr val="333333"/>
                </a:solidFill>
              </a:defRPr>
            </a:pPr>
            <a:r>
              <a:t>  • Philippines - Large historical database</a:t>
            </a:r>
          </a:p>
          <a:p>
            <a:pPr>
              <a:spcAft>
                <a:spcPts val="600"/>
              </a:spcAft>
              <a:defRPr sz="1600">
                <a:solidFill>
                  <a:srgbClr val="333333"/>
                </a:solidFill>
              </a:defRPr>
            </a:pPr>
            <a:r>
              <a:t>Africa</a:t>
            </a:r>
          </a:p>
          <a:p>
            <a:pPr>
              <a:spcAft>
                <a:spcPts val="600"/>
              </a:spcAft>
              <a:defRPr sz="1600" b="1">
                <a:solidFill>
                  <a:srgbClr val="333333"/>
                </a:solidFill>
              </a:defRPr>
            </a:pPr>
            <a:r>
              <a:t>  Recommendation: Leverage SAFLII network excellence</a:t>
            </a:r>
          </a:p>
          <a:p>
            <a:pPr>
              <a:spcAft>
                <a:spcPts val="600"/>
              </a:spcAft>
              <a:defRPr sz="1600">
                <a:solidFill>
                  <a:srgbClr val="333333"/>
                </a:solidFill>
              </a:defRPr>
            </a:pPr>
            <a:r>
              <a:t>  Priority Targets:</a:t>
            </a:r>
          </a:p>
          <a:p>
            <a:pPr lvl="1">
              <a:spcAft>
                <a:spcPts val="600"/>
              </a:spcAft>
              <a:defRPr sz="1200">
                <a:solidFill>
                  <a:srgbClr val="333333"/>
                </a:solidFill>
              </a:defRPr>
            </a:pPr>
            <a:r>
              <a:t>  • Kenya - Highest scrapability, specific amounts</a:t>
            </a:r>
          </a:p>
          <a:p>
            <a:pPr lvl="1">
              <a:spcAft>
                <a:spcPts val="600"/>
              </a:spcAft>
              <a:defRPr sz="1200">
                <a:solidFill>
                  <a:srgbClr val="333333"/>
                </a:solidFill>
              </a:defRPr>
            </a:pPr>
            <a:r>
              <a:t>  • South Africa - Best documented rates</a:t>
            </a:r>
          </a:p>
          <a:p>
            <a:pPr lvl="1">
              <a:spcAft>
                <a:spcPts val="600"/>
              </a:spcAft>
              <a:defRPr sz="1200">
                <a:solidFill>
                  <a:srgbClr val="333333"/>
                </a:solidFill>
              </a:defRPr>
            </a:pPr>
            <a:r>
              <a:t>  • Tanzania - Good statutory documentation</a:t>
            </a:r>
          </a:p>
          <a:p>
            <a:pPr>
              <a:spcAft>
                <a:spcPts val="600"/>
              </a:spcAft>
              <a:defRPr sz="1600">
                <a:solidFill>
                  <a:srgbClr val="333333"/>
                </a:solidFill>
              </a:defRPr>
            </a:pPr>
            <a:r>
              <a:t>Americas</a:t>
            </a:r>
          </a:p>
          <a:p>
            <a:pPr>
              <a:spcAft>
                <a:spcPts val="600"/>
              </a:spcAft>
              <a:defRPr sz="1600" b="1">
                <a:solidFill>
                  <a:srgbClr val="333333"/>
                </a:solidFill>
              </a:defRPr>
            </a:pPr>
            <a:r>
              <a:t>  Recommendation: North America first, then selective South America</a:t>
            </a:r>
          </a:p>
          <a:p>
            <a:pPr>
              <a:spcAft>
                <a:spcPts val="600"/>
              </a:spcAft>
              <a:defRPr sz="1600">
                <a:solidFill>
                  <a:srgbClr val="333333"/>
                </a:solidFill>
              </a:defRPr>
            </a:pPr>
            <a:r>
              <a:t>  Priority Targets:</a:t>
            </a:r>
          </a:p>
          <a:p>
            <a:pPr lvl="1">
              <a:spcAft>
                <a:spcPts val="600"/>
              </a:spcAft>
              <a:defRPr sz="1200">
                <a:solidFill>
                  <a:srgbClr val="333333"/>
                </a:solidFill>
              </a:defRPr>
            </a:pPr>
            <a:r>
              <a:t>  • US Federal Courts - Largest volume, best documentation</a:t>
            </a:r>
          </a:p>
          <a:p>
            <a:pPr lvl="1">
              <a:spcAft>
                <a:spcPts val="600"/>
              </a:spcAft>
              <a:defRPr sz="1200">
                <a:solidFill>
                  <a:srgbClr val="333333"/>
                </a:solidFill>
              </a:defRPr>
            </a:pPr>
            <a:r>
              <a:t>  • California, New York, Texas - High-value state courts</a:t>
            </a:r>
          </a:p>
          <a:p>
            <a:pPr lvl="1">
              <a:spcAft>
                <a:spcPts val="600"/>
              </a:spcAft>
              <a:defRPr sz="1200">
                <a:solidFill>
                  <a:srgbClr val="333333"/>
                </a:solidFill>
              </a:defRPr>
            </a:pPr>
            <a:r>
              <a:t>  • Canada - Good pan-provincial coverage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Technical Implementation Strategy</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Phase 1: Foundation (Months 1-3)</a:t>
            </a:r>
          </a:p>
          <a:p>
            <a:pPr>
              <a:spcAft>
                <a:spcPts val="600"/>
              </a:spcAft>
              <a:defRPr sz="1600" b="1">
                <a:solidFill>
                  <a:srgbClr val="333333"/>
                </a:solidFill>
              </a:defRPr>
            </a:pPr>
            <a:r>
              <a:t>  Targets: Tier 1 jurisdictions with API access</a:t>
            </a:r>
          </a:p>
          <a:p>
            <a:pPr>
              <a:spcAft>
                <a:spcPts val="600"/>
              </a:spcAft>
              <a:defRPr sz="1600">
                <a:solidFill>
                  <a:srgbClr val="333333"/>
                </a:solidFill>
              </a:defRPr>
            </a:pPr>
            <a:r>
              <a:t>  Actions:</a:t>
            </a:r>
          </a:p>
          <a:p>
            <a:pPr>
              <a:spcAft>
                <a:spcPts val="600"/>
              </a:spcAft>
              <a:defRPr sz="1600">
                <a:solidFill>
                  <a:srgbClr val="333333"/>
                </a:solidFill>
              </a:defRPr>
            </a:pPr>
            <a:r>
              <a:t>  1. CourtListener API integration (US Federal)</a:t>
            </a:r>
          </a:p>
          <a:p>
            <a:pPr>
              <a:spcAft>
                <a:spcPts val="600"/>
              </a:spcAft>
              <a:defRPr sz="1600">
                <a:solidFill>
                  <a:srgbClr val="333333"/>
                </a:solidFill>
              </a:defRPr>
            </a:pPr>
            <a:r>
              <a:t>  2. Open Legal Data API (Germany)</a:t>
            </a:r>
          </a:p>
          <a:p>
            <a:pPr>
              <a:spcAft>
                <a:spcPts val="600"/>
              </a:spcAft>
              <a:defRPr sz="1600">
                <a:solidFill>
                  <a:srgbClr val="333333"/>
                </a:solidFill>
              </a:defRPr>
            </a:pPr>
            <a:r>
              <a:t>  3. Kenya Law systematic scraping</a:t>
            </a:r>
          </a:p>
          <a:p>
            <a:pPr>
              <a:spcAft>
                <a:spcPts val="600"/>
              </a:spcAft>
              <a:defRPr sz="1600">
                <a:solidFill>
                  <a:srgbClr val="333333"/>
                </a:solidFill>
              </a:defRPr>
            </a:pPr>
            <a:r>
              <a:t>Phase 2: Expansion (Months 4-6)</a:t>
            </a:r>
          </a:p>
          <a:p>
            <a:pPr>
              <a:spcAft>
                <a:spcPts val="600"/>
              </a:spcAft>
              <a:defRPr sz="1600" b="1">
                <a:solidFill>
                  <a:srgbClr val="333333"/>
                </a:solidFill>
              </a:defRPr>
            </a:pPr>
            <a:r>
              <a:t>  Targets: Tier 1 + Tier 2 without APIs</a:t>
            </a:r>
          </a:p>
          <a:p>
            <a:pPr>
              <a:spcAft>
                <a:spcPts val="600"/>
              </a:spcAft>
              <a:defRPr sz="1600">
                <a:solidFill>
                  <a:srgbClr val="333333"/>
                </a:solidFill>
              </a:defRPr>
            </a:pPr>
            <a:r>
              <a:t>  Actions:</a:t>
            </a:r>
          </a:p>
          <a:p>
            <a:pPr>
              <a:spcAft>
                <a:spcPts val="600"/>
              </a:spcAft>
              <a:defRPr sz="1600">
                <a:solidFill>
                  <a:srgbClr val="333333"/>
                </a:solidFill>
              </a:defRPr>
            </a:pPr>
            <a:r>
              <a:t>  1. California courts systematic collection</a:t>
            </a:r>
          </a:p>
          <a:p>
            <a:pPr>
              <a:spcAft>
                <a:spcPts val="600"/>
              </a:spcAft>
              <a:defRPr sz="1600">
                <a:solidFill>
                  <a:srgbClr val="333333"/>
                </a:solidFill>
              </a:defRPr>
            </a:pPr>
            <a:r>
              <a:t>  2. Canada CanLII comprehensive scraping</a:t>
            </a:r>
          </a:p>
          <a:p>
            <a:pPr>
              <a:spcAft>
                <a:spcPts val="600"/>
              </a:spcAft>
              <a:defRPr sz="1600">
                <a:solidFill>
                  <a:srgbClr val="333333"/>
                </a:solidFill>
              </a:defRPr>
            </a:pPr>
            <a:r>
              <a:t>  3. Australia AustLII extraction</a:t>
            </a:r>
          </a:p>
          <a:p>
            <a:pPr>
              <a:spcAft>
                <a:spcPts val="600"/>
              </a:spcAft>
              <a:defRPr sz="1600">
                <a:solidFill>
                  <a:srgbClr val="333333"/>
                </a:solidFill>
              </a:defRPr>
            </a:pPr>
            <a:r>
              <a:t>Phase 3: Breadth (Months 7-12)</a:t>
            </a:r>
          </a:p>
          <a:p>
            <a:pPr>
              <a:spcAft>
                <a:spcPts val="600"/>
              </a:spcAft>
              <a:defRPr sz="1600" b="1">
                <a:solidFill>
                  <a:srgbClr val="333333"/>
                </a:solidFill>
              </a:defRPr>
            </a:pPr>
            <a:r>
              <a:t>  Targets: Tier 2 + selective Tier 3</a:t>
            </a:r>
          </a:p>
          <a:p>
            <a:pPr>
              <a:spcAft>
                <a:spcPts val="600"/>
              </a:spcAft>
              <a:defRPr sz="1600">
                <a:solidFill>
                  <a:srgbClr val="333333"/>
                </a:solidFill>
              </a:defRPr>
            </a:pPr>
            <a:r>
              <a:t>  Actions:</a:t>
            </a:r>
          </a:p>
          <a:p>
            <a:pPr>
              <a:spcAft>
                <a:spcPts val="600"/>
              </a:spcAft>
              <a:defRPr sz="1600">
                <a:solidFill>
                  <a:srgbClr val="333333"/>
                </a:solidFill>
              </a:defRPr>
            </a:pPr>
            <a:r>
              <a:t>  1. Vietnam e-portal (2017+)</a:t>
            </a:r>
          </a:p>
          <a:p>
            <a:pPr>
              <a:spcAft>
                <a:spcPts val="600"/>
              </a:spcAft>
              <a:defRPr sz="1600">
                <a:solidFill>
                  <a:srgbClr val="333333"/>
                </a:solidFill>
              </a:defRPr>
            </a:pPr>
            <a:r>
              <a:t>  2. Colombia Rama Judicial</a:t>
            </a:r>
          </a:p>
          <a:p>
            <a:pPr>
              <a:spcAft>
                <a:spcPts val="600"/>
              </a:spcAft>
              <a:defRPr sz="1600">
                <a:solidFill>
                  <a:srgbClr val="333333"/>
                </a:solidFill>
              </a:defRPr>
            </a:pPr>
            <a:r>
              <a:t>  3. Tanzania + Uganda LII sources</a:t>
            </a:r>
          </a:p>
          <a:p>
            <a:pPr>
              <a:spcAft>
                <a:spcPts val="600"/>
              </a:spcAft>
              <a:defRPr sz="1600">
                <a:solidFill>
                  <a:srgbClr val="333333"/>
                </a:solidFill>
              </a:defRPr>
            </a:pPr>
            <a:r>
              <a:t>Phase 4: Depth (Ongoing)</a:t>
            </a:r>
          </a:p>
          <a:p>
            <a:pPr>
              <a:spcAft>
                <a:spcPts val="600"/>
              </a:spcAft>
              <a:defRPr sz="1600" b="1">
                <a:solidFill>
                  <a:srgbClr val="333333"/>
                </a:solidFill>
              </a:defRPr>
            </a:pPr>
            <a:r>
              <a:t>  Targets: Historical data, special collections</a:t>
            </a:r>
          </a:p>
          <a:p>
            <a:pPr>
              <a:spcAft>
                <a:spcPts val="600"/>
              </a:spcAft>
              <a:defRPr sz="1600">
                <a:solidFill>
                  <a:srgbClr val="333333"/>
                </a:solidFill>
              </a:defRPr>
            </a:pPr>
            <a:r>
              <a:t>  Actions:</a:t>
            </a:r>
          </a:p>
          <a:p>
            <a:pPr>
              <a:spcAft>
                <a:spcPts val="600"/>
              </a:spcAft>
              <a:defRPr sz="1600">
                <a:solidFill>
                  <a:srgbClr val="333333"/>
                </a:solidFill>
              </a:defRPr>
            </a:pPr>
            <a:r>
              <a:t>  1. Pre-2017 Vietnam (CaseLaw.vn)</a:t>
            </a:r>
          </a:p>
          <a:p>
            <a:pPr>
              <a:spcAft>
                <a:spcPts val="600"/>
              </a:spcAft>
              <a:defRPr sz="1600">
                <a:solidFill>
                  <a:srgbClr val="333333"/>
                </a:solidFill>
              </a:defRPr>
            </a:pPr>
            <a:r>
              <a:t>  2. Subscription sources (budget permitting)</a:t>
            </a:r>
          </a:p>
          <a:p>
            <a:pPr>
              <a:spcAft>
                <a:spcPts val="600"/>
              </a:spcAft>
              <a:defRPr sz="1600">
                <a:solidFill>
                  <a:srgbClr val="333333"/>
                </a:solidFill>
              </a:defRPr>
            </a:pPr>
            <a:r>
              <a:t>  3. PDF extraction for non-digital sources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Data Standardization Framework</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Core Fields to Extract</a:t>
            </a:r>
          </a:p>
          <a:p>
            <a:pPr>
              <a:spcAft>
                <a:spcPts val="600"/>
              </a:spcAft>
              <a:defRPr sz="1600">
                <a:solidFill>
                  <a:srgbClr val="333333"/>
                </a:solidFill>
              </a:defRPr>
            </a:pPr>
            <a:r>
              <a:t>  Essential:</a:t>
            </a:r>
          </a:p>
          <a:p>
            <a:pPr lvl="1">
              <a:spcAft>
                <a:spcPts val="600"/>
              </a:spcAft>
              <a:defRPr sz="1200">
                <a:solidFill>
                  <a:srgbClr val="333333"/>
                </a:solidFill>
              </a:defRPr>
            </a:pPr>
            <a:r>
              <a:t>  • Jurisdiction</a:t>
            </a:r>
          </a:p>
          <a:p>
            <a:pPr lvl="1">
              <a:spcAft>
                <a:spcPts val="600"/>
              </a:spcAft>
              <a:defRPr sz="1200">
                <a:solidFill>
                  <a:srgbClr val="333333"/>
                </a:solidFill>
              </a:defRPr>
            </a:pPr>
            <a:r>
              <a:t>  • Court level</a:t>
            </a:r>
          </a:p>
          <a:p>
            <a:pPr lvl="1">
              <a:spcAft>
                <a:spcPts val="600"/>
              </a:spcAft>
              <a:defRPr sz="1200">
                <a:solidFill>
                  <a:srgbClr val="333333"/>
                </a:solidFill>
              </a:defRPr>
            </a:pPr>
            <a:r>
              <a:t>  • Case citation</a:t>
            </a:r>
          </a:p>
          <a:p>
            <a:pPr lvl="1">
              <a:spcAft>
                <a:spcPts val="600"/>
              </a:spcAft>
              <a:defRPr sz="1200">
                <a:solidFill>
                  <a:srgbClr val="333333"/>
                </a:solidFill>
              </a:defRPr>
            </a:pPr>
            <a:r>
              <a:t>  • Decision date</a:t>
            </a:r>
          </a:p>
          <a:p>
            <a:pPr>
              <a:spcAft>
                <a:spcPts val="600"/>
              </a:spcAft>
              <a:defRPr sz="1600">
                <a:solidFill>
                  <a:srgbClr val="333333"/>
                </a:solidFill>
              </a:defRPr>
            </a:pPr>
            <a:r>
              <a:t>Currency Normalization</a:t>
            </a:r>
          </a:p>
          <a:p>
            <a:pPr>
              <a:spcAft>
                <a:spcPts val="600"/>
              </a:spcAft>
              <a:defRPr sz="1600">
                <a:solidFill>
                  <a:srgbClr val="333333"/>
                </a:solidFill>
              </a:defRPr>
            </a:pPr>
            <a:r>
              <a:t>  Approach:</a:t>
            </a:r>
          </a:p>
          <a:p>
            <a:pPr lvl="1">
              <a:spcAft>
                <a:spcPts val="600"/>
              </a:spcAft>
              <a:defRPr sz="1200">
                <a:solidFill>
                  <a:srgbClr val="333333"/>
                </a:solidFill>
              </a:defRPr>
            </a:pPr>
            <a:r>
              <a:t>  • Maintain original currency</a:t>
            </a:r>
          </a:p>
          <a:p>
            <a:pPr lvl="1">
              <a:spcAft>
                <a:spcPts val="600"/>
              </a:spcAft>
              <a:defRPr sz="1200">
                <a:solidFill>
                  <a:srgbClr val="333333"/>
                </a:solidFill>
              </a:defRPr>
            </a:pPr>
            <a:r>
              <a:t>  • Add USD equivalent field</a:t>
            </a:r>
          </a:p>
          <a:p>
            <a:pPr lvl="1">
              <a:spcAft>
                <a:spcPts val="600"/>
              </a:spcAft>
              <a:defRPr sz="1200">
                <a:solidFill>
                  <a:srgbClr val="333333"/>
                </a:solidFill>
              </a:defRPr>
            </a:pPr>
            <a:r>
              <a:t>  • Include exchange rate date</a:t>
            </a:r>
          </a:p>
          <a:p>
            <a:pPr lvl="1">
              <a:spcAft>
                <a:spcPts val="600"/>
              </a:spcAft>
              <a:defRPr sz="1200">
                <a:solidFill>
                  <a:srgbClr val="333333"/>
                </a:solidFill>
              </a:defRPr>
            </a:pPr>
            <a:r>
              <a:t>  • Historical rate tracking for trend analysis</a:t>
            </a:r>
          </a:p>
          <a:p>
            <a:pPr>
              <a:spcAft>
                <a:spcPts val="600"/>
              </a:spcAft>
              <a:defRPr sz="1600">
                <a:solidFill>
                  <a:srgbClr val="333333"/>
                </a:solidFill>
              </a:defRPr>
            </a:pPr>
            <a:r>
              <a:t>Date Standardization</a:t>
            </a:r>
          </a:p>
          <a:p>
            <a:pPr>
              <a:spcAft>
                <a:spcPts val="600"/>
              </a:spcAft>
              <a:defRPr sz="1600" b="1">
                <a:solidFill>
                  <a:srgbClr val="333333"/>
                </a:solidFill>
              </a:defRPr>
            </a:pPr>
            <a:r>
              <a:t>  Format: ISO 8601 (YYYY-MM-DD)</a:t>
            </a:r>
          </a:p>
          <a:p>
            <a:pPr>
              <a:spcAft>
                <a:spcPts val="600"/>
              </a:spcAft>
              <a:defRPr sz="1600">
                <a:solidFill>
                  <a:srgbClr val="333333"/>
                </a:solidFill>
              </a:defRPr>
            </a:pPr>
            <a:r>
              <a:t>  Track:</a:t>
            </a:r>
          </a:p>
          <a:p>
            <a:pPr lvl="1">
              <a:spcAft>
                <a:spcPts val="600"/>
              </a:spcAft>
              <a:defRPr sz="1200">
                <a:solidFill>
                  <a:srgbClr val="333333"/>
                </a:solidFill>
              </a:defRPr>
            </a:pPr>
            <a:r>
              <a:t>  • Filing date</a:t>
            </a:r>
          </a:p>
          <a:p>
            <a:pPr lvl="1">
              <a:spcAft>
                <a:spcPts val="600"/>
              </a:spcAft>
              <a:defRPr sz="1200">
                <a:solidFill>
                  <a:srgbClr val="333333"/>
                </a:solidFill>
              </a:defRPr>
            </a:pPr>
            <a:r>
              <a:t>  • Decision date</a:t>
            </a:r>
          </a:p>
          <a:p>
            <a:pPr lvl="1">
              <a:spcAft>
                <a:spcPts val="600"/>
              </a:spcAft>
              <a:defRPr sz="1200">
                <a:solidFill>
                  <a:srgbClr val="333333"/>
                </a:solidFill>
              </a:defRPr>
            </a:pPr>
            <a:r>
              <a:t>  • Fee award date (if different)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Quality Assurance Measures</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Data Validation</a:t>
            </a:r>
          </a:p>
          <a:p>
            <a:pPr>
              <a:spcAft>
                <a:spcPts val="600"/>
              </a:spcAft>
              <a:defRPr sz="1600">
                <a:solidFill>
                  <a:srgbClr val="333333"/>
                </a:solidFill>
              </a:defRPr>
            </a:pPr>
            <a:r>
              <a:t>  Automated Checks:</a:t>
            </a:r>
          </a:p>
          <a:p>
            <a:pPr lvl="1">
              <a:spcAft>
                <a:spcPts val="600"/>
              </a:spcAft>
              <a:defRPr sz="1200">
                <a:solidFill>
                  <a:srgbClr val="333333"/>
                </a:solidFill>
              </a:defRPr>
            </a:pPr>
            <a:r>
              <a:t>  • Currency format validation</a:t>
            </a:r>
          </a:p>
          <a:p>
            <a:pPr lvl="1">
              <a:spcAft>
                <a:spcPts val="600"/>
              </a:spcAft>
              <a:defRPr sz="1200">
                <a:solidFill>
                  <a:srgbClr val="333333"/>
                </a:solidFill>
              </a:defRPr>
            </a:pPr>
            <a:r>
              <a:t>  • Date range validation (realistic timeframes)</a:t>
            </a:r>
          </a:p>
          <a:p>
            <a:pPr lvl="1">
              <a:spcAft>
                <a:spcPts val="600"/>
              </a:spcAft>
              <a:defRPr sz="1200">
                <a:solidFill>
                  <a:srgbClr val="333333"/>
                </a:solidFill>
              </a:defRPr>
            </a:pPr>
            <a:r>
              <a:t>  • Amount reasonableness (flag outliers)</a:t>
            </a:r>
          </a:p>
          <a:p>
            <a:pPr lvl="1">
              <a:spcAft>
                <a:spcPts val="600"/>
              </a:spcAft>
              <a:defRPr sz="1200">
                <a:solidFill>
                  <a:srgbClr val="333333"/>
                </a:solidFill>
              </a:defRPr>
            </a:pPr>
            <a:r>
              <a:t>  • Required field completeness</a:t>
            </a:r>
          </a:p>
          <a:p>
            <a:pPr>
              <a:spcAft>
                <a:spcPts val="600"/>
              </a:spcAft>
              <a:defRPr sz="1600">
                <a:solidFill>
                  <a:srgbClr val="333333"/>
                </a:solidFill>
              </a:defRPr>
            </a:pPr>
            <a:r>
              <a:t>Source Reliability Scoring</a:t>
            </a:r>
          </a:p>
          <a:p>
            <a:pPr>
              <a:spcAft>
                <a:spcPts val="600"/>
              </a:spcAft>
              <a:defRPr sz="1600">
                <a:solidFill>
                  <a:srgbClr val="333333"/>
                </a:solidFill>
              </a:defRPr>
            </a:pPr>
            <a:r>
              <a:t>  Criteria:</a:t>
            </a:r>
          </a:p>
          <a:p>
            <a:pPr lvl="1">
              <a:spcAft>
                <a:spcPts val="600"/>
              </a:spcAft>
              <a:defRPr sz="1200">
                <a:solidFill>
                  <a:srgbClr val="333333"/>
                </a:solidFill>
              </a:defRPr>
            </a:pPr>
            <a:r>
              <a:t>  • Official vs. third-party source</a:t>
            </a:r>
          </a:p>
          <a:p>
            <a:pPr lvl="1">
              <a:spcAft>
                <a:spcPts val="600"/>
              </a:spcAft>
              <a:defRPr sz="1200">
                <a:solidFill>
                  <a:srgbClr val="333333"/>
                </a:solidFill>
              </a:defRPr>
            </a:pPr>
            <a:r>
              <a:t>  • Update frequency</a:t>
            </a:r>
          </a:p>
          <a:p>
            <a:pPr lvl="1">
              <a:spcAft>
                <a:spcPts val="600"/>
              </a:spcAft>
              <a:defRPr sz="1200">
                <a:solidFill>
                  <a:srgbClr val="333333"/>
                </a:solidFill>
              </a:defRPr>
            </a:pPr>
            <a:r>
              <a:t>  • Data completeness</a:t>
            </a:r>
          </a:p>
          <a:p>
            <a:pPr lvl="1">
              <a:spcAft>
                <a:spcPts val="600"/>
              </a:spcAft>
              <a:defRPr sz="1200">
                <a:solidFill>
                  <a:srgbClr val="333333"/>
                </a:solidFill>
              </a:defRPr>
            </a:pPr>
            <a:r>
              <a:t>  • Format consistency</a:t>
            </a:r>
          </a:p>
          <a:p>
            <a:pPr>
              <a:spcAft>
                <a:spcPts val="600"/>
              </a:spcAft>
              <a:defRPr sz="1600">
                <a:solidFill>
                  <a:srgbClr val="333333"/>
                </a:solidFill>
              </a:defRPr>
            </a:pPr>
            <a:r>
              <a:t>Ongoing Monitoring</a:t>
            </a:r>
          </a:p>
          <a:p>
            <a:pPr>
              <a:spcAft>
                <a:spcPts val="600"/>
              </a:spcAft>
              <a:defRPr sz="1600">
                <a:solidFill>
                  <a:srgbClr val="333333"/>
                </a:solidFill>
              </a:defRPr>
            </a:pPr>
            <a:r>
              <a:t>  Weekly:</a:t>
            </a:r>
          </a:p>
          <a:p>
            <a:pPr lvl="1">
              <a:spcAft>
                <a:spcPts val="600"/>
              </a:spcAft>
              <a:defRPr sz="1200">
                <a:solidFill>
                  <a:srgbClr val="333333"/>
                </a:solidFill>
              </a:defRPr>
            </a:pPr>
            <a:r>
              <a:t>  • New records added</a:t>
            </a:r>
          </a:p>
          <a:p>
            <a:pPr lvl="1">
              <a:spcAft>
                <a:spcPts val="600"/>
              </a:spcAft>
              <a:defRPr sz="1200">
                <a:solidFill>
                  <a:srgbClr val="333333"/>
                </a:solidFill>
              </a:defRPr>
            </a:pPr>
            <a:r>
              <a:t>  • Extraction error rates</a:t>
            </a:r>
          </a:p>
          <a:p>
            <a:pPr lvl="1">
              <a:spcAft>
                <a:spcPts val="600"/>
              </a:spcAft>
              <a:defRPr sz="1200">
                <a:solidFill>
                  <a:srgbClr val="333333"/>
                </a:solidFill>
              </a:defRPr>
            </a:pPr>
            <a:r>
              <a:t>  • Source availability</a:t>
            </a:r>
          </a:p>
          <a:p>
            <a:pPr>
              <a:spcAft>
                <a:spcPts val="600"/>
              </a:spcAft>
              <a:defRPr sz="1600">
                <a:solidFill>
                  <a:srgbClr val="333333"/>
                </a:solidFill>
              </a:defRPr>
            </a:pPr>
            <a:r>
              <a:t>  Monthly: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Use Cases for Collected Data</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Legal Market Analysis</a:t>
            </a:r>
          </a:p>
          <a:p>
            <a:pPr>
              <a:spcAft>
                <a:spcPts val="600"/>
              </a:spcAft>
              <a:defRPr sz="1600">
                <a:solidFill>
                  <a:srgbClr val="333333"/>
                </a:solidFill>
              </a:defRPr>
            </a:pPr>
            <a:r>
              <a:t>  Applications:</a:t>
            </a:r>
          </a:p>
          <a:p>
            <a:pPr lvl="1">
              <a:spcAft>
                <a:spcPts val="600"/>
              </a:spcAft>
              <a:defRPr sz="1200">
                <a:solidFill>
                  <a:srgbClr val="333333"/>
                </a:solidFill>
              </a:defRPr>
            </a:pPr>
            <a:r>
              <a:t>  • Geographic rate comparisons</a:t>
            </a:r>
          </a:p>
          <a:p>
            <a:pPr lvl="1">
              <a:spcAft>
                <a:spcPts val="600"/>
              </a:spcAft>
              <a:defRPr sz="1200">
                <a:solidFill>
                  <a:srgbClr val="333333"/>
                </a:solidFill>
              </a:defRPr>
            </a:pPr>
            <a:r>
              <a:t>  • Practice area benchmarking</a:t>
            </a:r>
          </a:p>
          <a:p>
            <a:pPr lvl="1">
              <a:spcAft>
                <a:spcPts val="600"/>
              </a:spcAft>
              <a:defRPr sz="1200">
                <a:solidFill>
                  <a:srgbClr val="333333"/>
                </a:solidFill>
              </a:defRPr>
            </a:pPr>
            <a:r>
              <a:t>  • Experience level correlations</a:t>
            </a:r>
          </a:p>
          <a:p>
            <a:pPr lvl="1">
              <a:spcAft>
                <a:spcPts val="600"/>
              </a:spcAft>
              <a:defRPr sz="1200">
                <a:solidFill>
                  <a:srgbClr val="333333"/>
                </a:solidFill>
              </a:defRPr>
            </a:pPr>
            <a:r>
              <a:t>  • Trend analysis over time</a:t>
            </a:r>
          </a:p>
          <a:p>
            <a:pPr>
              <a:spcAft>
                <a:spcPts val="600"/>
              </a:spcAft>
              <a:defRPr sz="1600">
                <a:solidFill>
                  <a:srgbClr val="333333"/>
                </a:solidFill>
              </a:defRPr>
            </a:pPr>
            <a:r>
              <a:t>Access to Justice Research</a:t>
            </a:r>
          </a:p>
          <a:p>
            <a:pPr>
              <a:spcAft>
                <a:spcPts val="600"/>
              </a:spcAft>
              <a:defRPr sz="1600">
                <a:solidFill>
                  <a:srgbClr val="333333"/>
                </a:solidFill>
              </a:defRPr>
            </a:pPr>
            <a:r>
              <a:t>  Applications:</a:t>
            </a:r>
          </a:p>
          <a:p>
            <a:pPr lvl="1">
              <a:spcAft>
                <a:spcPts val="600"/>
              </a:spcAft>
              <a:defRPr sz="1200">
                <a:solidFill>
                  <a:srgbClr val="333333"/>
                </a:solidFill>
              </a:defRPr>
            </a:pPr>
            <a:r>
              <a:t>  • Cost barrier identification</a:t>
            </a:r>
          </a:p>
          <a:p>
            <a:pPr lvl="1">
              <a:spcAft>
                <a:spcPts val="600"/>
              </a:spcAft>
              <a:defRPr sz="1200">
                <a:solidFill>
                  <a:srgbClr val="333333"/>
                </a:solidFill>
              </a:defRPr>
            </a:pPr>
            <a:r>
              <a:t>  • Fee award vs. actual cost gaps</a:t>
            </a:r>
          </a:p>
          <a:p>
            <a:pPr lvl="1">
              <a:spcAft>
                <a:spcPts val="600"/>
              </a:spcAft>
              <a:defRPr sz="1200">
                <a:solidFill>
                  <a:srgbClr val="333333"/>
                </a:solidFill>
              </a:defRPr>
            </a:pPr>
            <a:r>
              <a:t>  • Pro bono need quantification</a:t>
            </a:r>
          </a:p>
          <a:p>
            <a:pPr lvl="1">
              <a:spcAft>
                <a:spcPts val="600"/>
              </a:spcAft>
              <a:defRPr sz="1200">
                <a:solidFill>
                  <a:srgbClr val="333333"/>
                </a:solidFill>
              </a:defRPr>
            </a:pPr>
            <a:r>
              <a:t>  • Legal aid rate adequacy</a:t>
            </a:r>
          </a:p>
          <a:p>
            <a:pPr>
              <a:spcAft>
                <a:spcPts val="600"/>
              </a:spcAft>
              <a:defRPr sz="1600">
                <a:solidFill>
                  <a:srgbClr val="333333"/>
                </a:solidFill>
              </a:defRPr>
            </a:pPr>
            <a:r>
              <a:t>AI/ML Training Data</a:t>
            </a:r>
          </a:p>
          <a:p>
            <a:pPr>
              <a:spcAft>
                <a:spcPts val="600"/>
              </a:spcAft>
              <a:defRPr sz="1600">
                <a:solidFill>
                  <a:srgbClr val="333333"/>
                </a:solidFill>
              </a:defRPr>
            </a:pPr>
            <a:r>
              <a:t>  Applications:</a:t>
            </a:r>
          </a:p>
          <a:p>
            <a:pPr lvl="1">
              <a:spcAft>
                <a:spcPts val="600"/>
              </a:spcAft>
              <a:defRPr sz="1200">
                <a:solidFill>
                  <a:srgbClr val="333333"/>
                </a:solidFill>
              </a:defRPr>
            </a:pPr>
            <a:r>
              <a:t>  • Fee prediction models</a:t>
            </a:r>
          </a:p>
          <a:p>
            <a:pPr lvl="1">
              <a:spcAft>
                <a:spcPts val="600"/>
              </a:spcAft>
              <a:defRPr sz="1200">
                <a:solidFill>
                  <a:srgbClr val="333333"/>
                </a:solidFill>
              </a:defRPr>
            </a:pPr>
            <a:r>
              <a:t>  • Cost estimation tools</a:t>
            </a:r>
          </a:p>
          <a:p>
            <a:pPr lvl="1">
              <a:spcAft>
                <a:spcPts val="600"/>
              </a:spcAft>
              <a:defRPr sz="1200">
                <a:solidFill>
                  <a:srgbClr val="333333"/>
                </a:solidFill>
              </a:defRPr>
            </a:pPr>
            <a:r>
              <a:t>  • Settlement calculators</a:t>
            </a:r>
          </a:p>
          <a:p>
            <a:pPr lvl="1">
              <a:spcAft>
                <a:spcPts val="600"/>
              </a:spcAft>
              <a:defRPr sz="1200">
                <a:solidFill>
                  <a:srgbClr val="333333"/>
                </a:solidFill>
              </a:defRPr>
            </a:pPr>
            <a:r>
              <a:t>  • Legal advice automation</a:t>
            </a:r>
          </a:p>
          <a:p>
            <a:pPr>
              <a:spcAft>
                <a:spcPts val="600"/>
              </a:spcAft>
              <a:defRPr sz="1600">
                <a:solidFill>
                  <a:srgbClr val="333333"/>
                </a:solidFill>
              </a:defRPr>
            </a:pPr>
            <a:r>
              <a:t>Regulatory Policy</a:t>
            </a:r>
          </a:p>
          <a:p>
            <a:pPr>
              <a:spcAft>
                <a:spcPts val="600"/>
              </a:spcAft>
              <a:defRPr sz="1600">
                <a:solidFill>
                  <a:srgbClr val="333333"/>
                </a:solidFill>
              </a:defRPr>
            </a:pPr>
            <a:r>
              <a:t>  Applications:</a:t>
            </a:r>
          </a:p>
          <a:p>
            <a:pPr lvl="1">
              <a:spcAft>
                <a:spcPts val="600"/>
              </a:spcAft>
              <a:defRPr sz="1200">
                <a:solidFill>
                  <a:srgbClr val="333333"/>
                </a:solidFill>
              </a:defRPr>
            </a:pPr>
            <a:r>
              <a:t>  • Fee guideline development</a:t>
            </a:r>
          </a:p>
          <a:p>
            <a:pPr lvl="1">
              <a:spcAft>
                <a:spcPts val="600"/>
              </a:spcAft>
              <a:defRPr sz="1200">
                <a:solidFill>
                  <a:srgbClr val="333333"/>
                </a:solidFill>
              </a:defRPr>
            </a:pPr>
            <a:r>
              <a:t>  • Tariff structure comparison</a:t>
            </a:r>
          </a:p>
          <a:p>
            <a:pPr lvl="1">
              <a:spcAft>
                <a:spcPts val="600"/>
              </a:spcAft>
              <a:defRPr sz="1200">
                <a:solidFill>
                  <a:srgbClr val="333333"/>
                </a:solidFill>
              </a:defRPr>
            </a:pPr>
            <a:r>
              <a:t>  • Loser-pays impact assessment</a:t>
            </a:r>
          </a:p>
          <a:p>
            <a:pPr lvl="1">
              <a:spcAft>
                <a:spcPts val="600"/>
              </a:spcAft>
              <a:defRPr sz="1200">
                <a:solidFill>
                  <a:srgbClr val="333333"/>
                </a:solidFill>
              </a:defRPr>
            </a:pPr>
            <a:r>
              <a:t>  • Access to justice initiatives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Risk Assessment</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Legal Risks</a:t>
            </a:r>
          </a:p>
          <a:p>
            <a:pPr>
              <a:spcAft>
                <a:spcPts val="600"/>
              </a:spcAft>
              <a:defRPr sz="1600">
                <a:solidFill>
                  <a:srgbClr val="333333"/>
                </a:solidFill>
              </a:defRPr>
            </a:pPr>
            <a:r>
              <a:t>  Terms of Service Violations:</a:t>
            </a:r>
          </a:p>
          <a:p>
            <a:pPr lvl="1">
              <a:spcAft>
                <a:spcPts val="600"/>
              </a:spcAft>
              <a:defRPr sz="1200">
                <a:solidFill>
                  <a:srgbClr val="333333"/>
                </a:solidFill>
              </a:defRPr>
            </a:pPr>
            <a:r>
              <a:t>  • Mitigation: Review ToS for each source</a:t>
            </a:r>
          </a:p>
          <a:p>
            <a:pPr lvl="1">
              <a:spcAft>
                <a:spcPts val="600"/>
              </a:spcAft>
              <a:defRPr sz="1200">
                <a:solidFill>
                  <a:srgbClr val="333333"/>
                </a:solidFill>
              </a:defRPr>
            </a:pPr>
            <a:r>
              <a:t>  • Approach: Respect robots.txt, rate limiting</a:t>
            </a:r>
          </a:p>
          <a:p>
            <a:pPr lvl="1">
              <a:spcAft>
                <a:spcPts val="600"/>
              </a:spcAft>
              <a:defRPr sz="1200">
                <a:solidFill>
                  <a:srgbClr val="333333"/>
                </a:solidFill>
              </a:defRPr>
            </a:pPr>
            <a:r>
              <a:t>  • Strategy: Prioritize explicitly free/open sources</a:t>
            </a:r>
          </a:p>
          <a:p>
            <a:pPr>
              <a:spcAft>
                <a:spcPts val="600"/>
              </a:spcAft>
              <a:defRPr sz="1600">
                <a:solidFill>
                  <a:srgbClr val="333333"/>
                </a:solidFill>
              </a:defRPr>
            </a:pPr>
            <a:r>
              <a:t>  Copyright Issues:</a:t>
            </a:r>
          </a:p>
          <a:p>
            <a:pPr>
              <a:spcAft>
                <a:spcPts val="600"/>
              </a:spcAft>
              <a:defRPr sz="1600">
                <a:solidFill>
                  <a:srgbClr val="333333"/>
                </a:solidFill>
              </a:defRPr>
            </a:pPr>
            <a:r>
              <a:t>Technical Risks</a:t>
            </a:r>
          </a:p>
          <a:p>
            <a:pPr>
              <a:spcAft>
                <a:spcPts val="600"/>
              </a:spcAft>
              <a:defRPr sz="1600">
                <a:solidFill>
                  <a:srgbClr val="333333"/>
                </a:solidFill>
              </a:defRPr>
            </a:pPr>
            <a:r>
              <a:t>  Source Changes:</a:t>
            </a:r>
          </a:p>
          <a:p>
            <a:pPr lvl="1">
              <a:spcAft>
                <a:spcPts val="600"/>
              </a:spcAft>
              <a:defRPr sz="1200">
                <a:solidFill>
                  <a:srgbClr val="333333"/>
                </a:solidFill>
              </a:defRPr>
            </a:pPr>
            <a:r>
              <a:t>  • Probability: Medium</a:t>
            </a:r>
          </a:p>
          <a:p>
            <a:pPr lvl="1">
              <a:spcAft>
                <a:spcPts val="600"/>
              </a:spcAft>
              <a:defRPr sz="1200">
                <a:solidFill>
                  <a:srgbClr val="333333"/>
                </a:solidFill>
              </a:defRPr>
            </a:pPr>
            <a:r>
              <a:t>  • Impact: Medium to High</a:t>
            </a:r>
          </a:p>
          <a:p>
            <a:pPr lvl="1">
              <a:spcAft>
                <a:spcPts val="600"/>
              </a:spcAft>
              <a:defRPr sz="1200">
                <a:solidFill>
                  <a:srgbClr val="333333"/>
                </a:solidFill>
              </a:defRPr>
            </a:pPr>
            <a:r>
              <a:t>  • Mitigation: Monitoring system, flexible scrapers</a:t>
            </a:r>
          </a:p>
          <a:p>
            <a:pPr>
              <a:spcAft>
                <a:spcPts val="600"/>
              </a:spcAft>
              <a:defRPr sz="1600">
                <a:solidFill>
                  <a:srgbClr val="333333"/>
                </a:solidFill>
              </a:defRPr>
            </a:pPr>
            <a:r>
              <a:t>  Data Quality Degradation:</a:t>
            </a:r>
          </a:p>
          <a:p>
            <a:pPr>
              <a:spcAft>
                <a:spcPts val="600"/>
              </a:spcAft>
              <a:defRPr sz="1600">
                <a:solidFill>
                  <a:srgbClr val="333333"/>
                </a:solidFill>
              </a:defRPr>
            </a:pPr>
            <a:r>
              <a:t>Operational Risks</a:t>
            </a:r>
          </a:p>
          <a:p>
            <a:pPr>
              <a:spcAft>
                <a:spcPts val="600"/>
              </a:spcAft>
              <a:defRPr sz="1600">
                <a:solidFill>
                  <a:srgbClr val="333333"/>
                </a:solidFill>
              </a:defRPr>
            </a:pPr>
            <a:r>
              <a:t>  Resource Requirements:</a:t>
            </a:r>
          </a:p>
          <a:p>
            <a:pPr lvl="1">
              <a:spcAft>
                <a:spcPts val="600"/>
              </a:spcAft>
              <a:defRPr sz="1200">
                <a:solidFill>
                  <a:srgbClr val="333333"/>
                </a:solidFill>
              </a:defRPr>
            </a:pPr>
            <a:r>
              <a:t>  • Storage: Moderate (estimated 100GB-1TB for full dataset)</a:t>
            </a:r>
          </a:p>
          <a:p>
            <a:pPr lvl="1">
              <a:spcAft>
                <a:spcPts val="600"/>
              </a:spcAft>
              <a:defRPr sz="1200">
                <a:solidFill>
                  <a:srgbClr val="333333"/>
                </a:solidFill>
              </a:defRPr>
            </a:pPr>
            <a:r>
              <a:t>  • Processing: Significant (multi-language NLP, PDF extraction)</a:t>
            </a:r>
          </a:p>
          <a:p>
            <a:pPr lvl="1">
              <a:spcAft>
                <a:spcPts val="600"/>
              </a:spcAft>
              <a:defRPr sz="1200">
                <a:solidFill>
                  <a:srgbClr val="333333"/>
                </a:solidFill>
              </a:defRPr>
            </a:pPr>
            <a:r>
              <a:t>  • Maintenance: Ongoing (source monitoring, updates)</a:t>
            </a:r>
          </a:p>
          <a:p>
            <a:pPr>
              <a:spcAft>
                <a:spcPts val="600"/>
              </a:spcAft>
              <a:defRPr sz="1600">
                <a:solidFill>
                  <a:srgbClr val="333333"/>
                </a:solidFill>
              </a:defRPr>
            </a:pPr>
            <a:r>
              <a:t>  Team Expertise: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Cost-Benefit Analysis</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Estimated Costs (12-month project)</a:t>
            </a:r>
          </a:p>
          <a:p>
            <a:pPr>
              <a:spcAft>
                <a:spcPts val="600"/>
              </a:spcAft>
              <a:defRPr sz="1600">
                <a:solidFill>
                  <a:srgbClr val="333333"/>
                </a:solidFill>
              </a:defRPr>
            </a:pPr>
            <a:r>
              <a:t>  Personnel:</a:t>
            </a:r>
          </a:p>
          <a:p>
            <a:pPr lvl="1">
              <a:spcAft>
                <a:spcPts val="600"/>
              </a:spcAft>
              <a:defRPr sz="1200">
                <a:solidFill>
                  <a:srgbClr val="333333"/>
                </a:solidFill>
              </a:defRPr>
            </a:pPr>
            <a:r>
              <a:t>  • 2 Senior developers (scraping, backend): $300,000</a:t>
            </a:r>
          </a:p>
          <a:p>
            <a:pPr lvl="1">
              <a:spcAft>
                <a:spcPts val="600"/>
              </a:spcAft>
              <a:defRPr sz="1200">
                <a:solidFill>
                  <a:srgbClr val="333333"/>
                </a:solidFill>
              </a:defRPr>
            </a:pPr>
            <a:r>
              <a:t>  • 1 Data scientist (ML, analysis): $150,000</a:t>
            </a:r>
          </a:p>
          <a:p>
            <a:pPr lvl="1">
              <a:spcAft>
                <a:spcPts val="600"/>
              </a:spcAft>
              <a:defRPr sz="1200">
                <a:solidFill>
                  <a:srgbClr val="333333"/>
                </a:solidFill>
              </a:defRPr>
            </a:pPr>
            <a:r>
              <a:t>  • 1 Legal researcher (validation, categorization): $80,000</a:t>
            </a:r>
          </a:p>
          <a:p>
            <a:pPr lvl="1">
              <a:spcAft>
                <a:spcPts val="600"/>
              </a:spcAft>
              <a:defRPr sz="1200">
                <a:solidFill>
                  <a:srgbClr val="333333"/>
                </a:solidFill>
              </a:defRPr>
            </a:pPr>
            <a:r>
              <a:t>  • 1 Project manager (0.5 FTE): $60,000</a:t>
            </a:r>
          </a:p>
          <a:p>
            <a:pPr>
              <a:spcAft>
                <a:spcPts val="600"/>
              </a:spcAft>
              <a:defRPr sz="1600">
                <a:solidFill>
                  <a:srgbClr val="333333"/>
                </a:solidFill>
              </a:defRPr>
            </a:pPr>
            <a:r>
              <a:t>Estimated Benefits</a:t>
            </a:r>
          </a:p>
          <a:p>
            <a:pPr>
              <a:spcAft>
                <a:spcPts val="600"/>
              </a:spcAft>
              <a:defRPr sz="1600">
                <a:solidFill>
                  <a:srgbClr val="333333"/>
                </a:solidFill>
              </a:defRPr>
            </a:pPr>
            <a:r>
              <a:t>  Market Value:</a:t>
            </a:r>
          </a:p>
          <a:p>
            <a:pPr lvl="1">
              <a:spcAft>
                <a:spcPts val="600"/>
              </a:spcAft>
              <a:defRPr sz="1200">
                <a:solidFill>
                  <a:srgbClr val="333333"/>
                </a:solidFill>
              </a:defRPr>
            </a:pPr>
            <a:r>
              <a:t>  • Legal tech licensing: $500K-2M/year potential</a:t>
            </a:r>
          </a:p>
          <a:p>
            <a:pPr lvl="1">
              <a:spcAft>
                <a:spcPts val="600"/>
              </a:spcAft>
              <a:defRPr sz="1200">
                <a:solidFill>
                  <a:srgbClr val="333333"/>
                </a:solidFill>
              </a:defRPr>
            </a:pPr>
            <a:r>
              <a:t>  • Research institution access: $100K-500K/year</a:t>
            </a:r>
          </a:p>
          <a:p>
            <a:pPr lvl="1">
              <a:spcAft>
                <a:spcPts val="600"/>
              </a:spcAft>
              <a:defRPr sz="1200">
                <a:solidFill>
                  <a:srgbClr val="333333"/>
                </a:solidFill>
              </a:defRPr>
            </a:pPr>
            <a:r>
              <a:t>  • SaaS fee prediction tool: $250K-1M/year</a:t>
            </a:r>
          </a:p>
          <a:p>
            <a:pPr>
              <a:spcAft>
                <a:spcPts val="600"/>
              </a:spcAft>
              <a:defRPr sz="1600">
                <a:solidFill>
                  <a:srgbClr val="333333"/>
                </a:solidFill>
              </a:defRPr>
            </a:pPr>
            <a:r>
              <a:t>  Research Impact: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Timeline and Milestones</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Month 1-2: Setup and Pilot</a:t>
            </a:r>
          </a:p>
          <a:p>
            <a:pPr lvl="1">
              <a:spcAft>
                <a:spcPts val="600"/>
              </a:spcAft>
              <a:defRPr sz="1200">
                <a:solidFill>
                  <a:srgbClr val="333333"/>
                </a:solidFill>
              </a:defRPr>
            </a:pPr>
            <a:r>
              <a:t>  • [ ] Finalize technical architecture</a:t>
            </a:r>
          </a:p>
          <a:p>
            <a:pPr lvl="1">
              <a:spcAft>
                <a:spcPts val="600"/>
              </a:spcAft>
              <a:defRPr sz="1200">
                <a:solidFill>
                  <a:srgbClr val="333333"/>
                </a:solidFill>
              </a:defRPr>
            </a:pPr>
            <a:r>
              <a:t>  • [ ] Legal review of top 20 sources</a:t>
            </a:r>
          </a:p>
          <a:p>
            <a:pPr lvl="1">
              <a:spcAft>
                <a:spcPts val="600"/>
              </a:spcAft>
              <a:defRPr sz="1200">
                <a:solidFill>
                  <a:srgbClr val="333333"/>
                </a:solidFill>
              </a:defRPr>
            </a:pPr>
            <a:r>
              <a:t>  • [ ] Build core scraping framework</a:t>
            </a:r>
          </a:p>
          <a:p>
            <a:pPr lvl="1">
              <a:spcAft>
                <a:spcPts val="600"/>
              </a:spcAft>
              <a:defRPr sz="1200">
                <a:solidFill>
                  <a:srgbClr val="333333"/>
                </a:solidFill>
              </a:defRPr>
            </a:pPr>
            <a:r>
              <a:t>  • [ ] Pilot with 3 Tier 1 sources</a:t>
            </a:r>
          </a:p>
          <a:p>
            <a:pPr lvl="1">
              <a:spcAft>
                <a:spcPts val="600"/>
              </a:spcAft>
              <a:defRPr sz="1200">
                <a:solidFill>
                  <a:srgbClr val="333333"/>
                </a:solidFill>
              </a:defRPr>
            </a:pPr>
            <a:r>
              <a:t>  • Milestone: First 10,000 records extracted</a:t>
            </a:r>
          </a:p>
          <a:p>
            <a:pPr>
              <a:spcAft>
                <a:spcPts val="600"/>
              </a:spcAft>
              <a:defRPr sz="1600">
                <a:solidFill>
                  <a:srgbClr val="333333"/>
                </a:solidFill>
              </a:defRPr>
            </a:pPr>
            <a:r>
              <a:t>Month 3-4: Phase 1 Execution</a:t>
            </a:r>
          </a:p>
          <a:p>
            <a:pPr lvl="1">
              <a:spcAft>
                <a:spcPts val="600"/>
              </a:spcAft>
              <a:defRPr sz="1200">
                <a:solidFill>
                  <a:srgbClr val="333333"/>
                </a:solidFill>
              </a:defRPr>
            </a:pPr>
            <a:r>
              <a:t>  • [ ] Complete all Tier 1 API integrations</a:t>
            </a:r>
          </a:p>
          <a:p>
            <a:pPr lvl="1">
              <a:spcAft>
                <a:spcPts val="600"/>
              </a:spcAft>
              <a:defRPr sz="1200">
                <a:solidFill>
                  <a:srgbClr val="333333"/>
                </a:solidFill>
              </a:defRPr>
            </a:pPr>
            <a:r>
              <a:t>  • [ ] Deploy Kenya Law scraper</a:t>
            </a:r>
          </a:p>
          <a:p>
            <a:pPr lvl="1">
              <a:spcAft>
                <a:spcPts val="600"/>
              </a:spcAft>
              <a:defRPr sz="1200">
                <a:solidFill>
                  <a:srgbClr val="333333"/>
                </a:solidFill>
              </a:defRPr>
            </a:pPr>
            <a:r>
              <a:t>  • [ ] Deploy Singapore ELITIGATION scraper</a:t>
            </a:r>
          </a:p>
          <a:p>
            <a:pPr lvl="1">
              <a:spcAft>
                <a:spcPts val="600"/>
              </a:spcAft>
              <a:defRPr sz="1200">
                <a:solidFill>
                  <a:srgbClr val="333333"/>
                </a:solidFill>
              </a:defRPr>
            </a:pPr>
            <a:r>
              <a:t>  • [ ] Begin SAFLII network collection</a:t>
            </a:r>
          </a:p>
          <a:p>
            <a:pPr lvl="1">
              <a:spcAft>
                <a:spcPts val="600"/>
              </a:spcAft>
              <a:defRPr sz="1200">
                <a:solidFill>
                  <a:srgbClr val="333333"/>
                </a:solidFill>
              </a:defRPr>
            </a:pPr>
            <a:r>
              <a:t>  • Milestone: 500,000 records collected</a:t>
            </a:r>
          </a:p>
          <a:p>
            <a:pPr>
              <a:spcAft>
                <a:spcPts val="600"/>
              </a:spcAft>
              <a:defRPr sz="1600">
                <a:solidFill>
                  <a:srgbClr val="333333"/>
                </a:solidFill>
              </a:defRPr>
            </a:pPr>
            <a:r>
              <a:t>Month 5-6: Phase 2 Preparation</a:t>
            </a:r>
          </a:p>
          <a:p>
            <a:pPr lvl="1">
              <a:spcAft>
                <a:spcPts val="600"/>
              </a:spcAft>
              <a:defRPr sz="1200">
                <a:solidFill>
                  <a:srgbClr val="333333"/>
                </a:solidFill>
              </a:defRPr>
            </a:pPr>
            <a:r>
              <a:t>  • [ ] Develop PDF extraction pipeline</a:t>
            </a:r>
          </a:p>
          <a:p>
            <a:pPr lvl="1">
              <a:spcAft>
                <a:spcPts val="600"/>
              </a:spcAft>
              <a:defRPr sz="1200">
                <a:solidFill>
                  <a:srgbClr val="333333"/>
                </a:solidFill>
              </a:defRPr>
            </a:pPr>
            <a:r>
              <a:t>  • [ ] Build multi-language processing</a:t>
            </a:r>
          </a:p>
          <a:p>
            <a:pPr lvl="1">
              <a:spcAft>
                <a:spcPts val="600"/>
              </a:spcAft>
              <a:defRPr sz="1200">
                <a:solidFill>
                  <a:srgbClr val="333333"/>
                </a:solidFill>
              </a:defRPr>
            </a:pPr>
            <a:r>
              <a:t>  • [ ] Complete California/New York scrapers</a:t>
            </a:r>
          </a:p>
          <a:p>
            <a:pPr lvl="1">
              <a:spcAft>
                <a:spcPts val="600"/>
              </a:spcAft>
              <a:defRPr sz="1200">
                <a:solidFill>
                  <a:srgbClr val="333333"/>
                </a:solidFill>
              </a:defRPr>
            </a:pPr>
            <a:r>
              <a:t>  • [ ] Expand Canada coverage</a:t>
            </a:r>
          </a:p>
          <a:p>
            <a:pPr lvl="1">
              <a:spcAft>
                <a:spcPts val="600"/>
              </a:spcAft>
              <a:defRPr sz="1200">
                <a:solidFill>
                  <a:srgbClr val="333333"/>
                </a:solidFill>
              </a:defRPr>
            </a:pPr>
            <a:r>
              <a:t>  • Milestone: 1,000,000 records collected</a:t>
            </a:r>
          </a:p>
          <a:p>
            <a:pPr>
              <a:spcAft>
                <a:spcPts val="600"/>
              </a:spcAft>
              <a:defRPr sz="1600">
                <a:solidFill>
                  <a:srgbClr val="333333"/>
                </a:solidFill>
              </a:defRPr>
            </a:pPr>
            <a:r>
              <a:t>Month 7-9: Phase 2-3 Execution</a:t>
            </a:r>
          </a:p>
          <a:p>
            <a:pPr lvl="1">
              <a:spcAft>
                <a:spcPts val="600"/>
              </a:spcAft>
              <a:defRPr sz="1200">
                <a:solidFill>
                  <a:srgbClr val="333333"/>
                </a:solidFill>
              </a:defRPr>
            </a:pPr>
            <a:r>
              <a:t>  • [ ] Deploy all Tier 2 scrapers</a:t>
            </a:r>
          </a:p>
          <a:p>
            <a:pPr lvl="1">
              <a:spcAft>
                <a:spcPts val="600"/>
              </a:spcAft>
              <a:defRPr sz="1200">
                <a:solidFill>
                  <a:srgbClr val="333333"/>
                </a:solidFill>
              </a:defRPr>
            </a:pPr>
            <a:r>
              <a:t>  • [ ] Begin selective Tier 3 collection</a:t>
            </a:r>
          </a:p>
          <a:p>
            <a:pPr lvl="1">
              <a:spcAft>
                <a:spcPts val="600"/>
              </a:spcAft>
              <a:defRPr sz="1200">
                <a:solidFill>
                  <a:srgbClr val="333333"/>
                </a:solidFill>
              </a:defRPr>
            </a:pPr>
            <a:r>
              <a:t>  • [ ] Implement quality assurance system</a:t>
            </a:r>
          </a:p>
          <a:p>
            <a:pPr lvl="1">
              <a:spcAft>
                <a:spcPts val="600"/>
              </a:spcAft>
              <a:defRPr sz="1200">
                <a:solidFill>
                  <a:srgbClr val="333333"/>
                </a:solidFill>
              </a:defRPr>
            </a:pPr>
            <a:r>
              <a:t>  • [ ] First external data validation</a:t>
            </a:r>
          </a:p>
          <a:p>
            <a:pPr lvl="1">
              <a:spcAft>
                <a:spcPts val="600"/>
              </a:spcAft>
              <a:defRPr sz="1200">
                <a:solidFill>
                  <a:srgbClr val="333333"/>
                </a:solidFill>
              </a:defRPr>
            </a:pPr>
            <a:r>
              <a:t>  • Milestone: 2,000,000 records collected</a:t>
            </a:r>
          </a:p>
          <a:p>
            <a:pPr>
              <a:spcAft>
                <a:spcPts val="600"/>
              </a:spcAft>
              <a:defRPr sz="1600">
                <a:solidFill>
                  <a:srgbClr val="333333"/>
                </a:solidFill>
              </a:defRPr>
            </a:pPr>
            <a:r>
              <a:t>Month 10-12: Refinement and Launch</a:t>
            </a:r>
          </a:p>
          <a:p>
            <a:pPr lvl="1">
              <a:spcAft>
                <a:spcPts val="600"/>
              </a:spcAft>
              <a:defRPr sz="1200">
                <a:solidFill>
                  <a:srgbClr val="333333"/>
                </a:solidFill>
              </a:defRPr>
            </a:pPr>
            <a:r>
              <a:t>  • [ ] Complete data standardization</a:t>
            </a:r>
          </a:p>
          <a:p>
            <a:pPr lvl="1">
              <a:spcAft>
                <a:spcPts val="600"/>
              </a:spcAft>
              <a:defRPr sz="1200">
                <a:solidFill>
                  <a:srgbClr val="333333"/>
                </a:solidFill>
              </a:defRPr>
            </a:pPr>
            <a:r>
              <a:t>  • [ ] Build API for data access</a:t>
            </a:r>
          </a:p>
          <a:p>
            <a:pPr lvl="1">
              <a:spcAft>
                <a:spcPts val="600"/>
              </a:spcAft>
              <a:defRPr sz="1200">
                <a:solidFill>
                  <a:srgbClr val="333333"/>
                </a:solidFill>
              </a:defRPr>
            </a:pPr>
            <a:r>
              <a:t>  • [ ] Create initial analytics dashboard</a:t>
            </a:r>
          </a:p>
          <a:p>
            <a:pPr lvl="1">
              <a:spcAft>
                <a:spcPts val="600"/>
              </a:spcAft>
              <a:defRPr sz="1200">
                <a:solidFill>
                  <a:srgbClr val="333333"/>
                </a:solidFill>
              </a:defRPr>
            </a:pPr>
            <a:r>
              <a:t>  • [ ] Prepare research reports</a:t>
            </a:r>
          </a:p>
          <a:p>
            <a:pPr lvl="1">
              <a:spcAft>
                <a:spcPts val="600"/>
              </a:spcAft>
              <a:defRPr sz="1200">
                <a:solidFill>
                  <a:srgbClr val="333333"/>
                </a:solidFill>
              </a:defRPr>
            </a:pPr>
            <a:r>
              <a:t>  • [ ] Soft launch to select partners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Success Metrics</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Quantitative KPIs</a:t>
            </a:r>
          </a:p>
          <a:p>
            <a:pPr>
              <a:spcAft>
                <a:spcPts val="600"/>
              </a:spcAft>
              <a:defRPr sz="1600">
                <a:solidFill>
                  <a:srgbClr val="333333"/>
                </a:solidFill>
              </a:defRPr>
            </a:pPr>
            <a:r>
              <a:t>  Data Collection:</a:t>
            </a:r>
          </a:p>
          <a:p>
            <a:pPr lvl="1">
              <a:spcAft>
                <a:spcPts val="600"/>
              </a:spcAft>
              <a:defRPr sz="1200">
                <a:solidFill>
                  <a:srgbClr val="333333"/>
                </a:solidFill>
              </a:defRPr>
            </a:pPr>
            <a:r>
              <a:t>  • Target: 3M+ fee records in 12 months</a:t>
            </a:r>
          </a:p>
          <a:p>
            <a:pPr lvl="1">
              <a:spcAft>
                <a:spcPts val="600"/>
              </a:spcAft>
              <a:defRPr sz="1200">
                <a:solidFill>
                  <a:srgbClr val="333333"/>
                </a:solidFill>
              </a:defRPr>
            </a:pPr>
            <a:r>
              <a:t>  • Coverage: 50+ jurisdictions with &gt;10K records each</a:t>
            </a:r>
          </a:p>
          <a:p>
            <a:pPr lvl="1">
              <a:spcAft>
                <a:spcPts val="600"/>
              </a:spcAft>
              <a:defRPr sz="1200">
                <a:solidFill>
                  <a:srgbClr val="333333"/>
                </a:solidFill>
              </a:defRPr>
            </a:pPr>
            <a:r>
              <a:t>  • Quality: &lt;5% extraction error rate</a:t>
            </a:r>
          </a:p>
          <a:p>
            <a:pPr lvl="1">
              <a:spcAft>
                <a:spcPts val="600"/>
              </a:spcAft>
              <a:defRPr sz="1200">
                <a:solidFill>
                  <a:srgbClr val="333333"/>
                </a:solidFill>
              </a:defRPr>
            </a:pPr>
            <a:r>
              <a:t>  • Completeness: &gt;80% of core fields populated</a:t>
            </a:r>
          </a:p>
          <a:p>
            <a:pPr>
              <a:spcAft>
                <a:spcPts val="600"/>
              </a:spcAft>
              <a:defRPr sz="1600">
                <a:solidFill>
                  <a:srgbClr val="333333"/>
                </a:solidFill>
              </a:defRPr>
            </a:pPr>
            <a:r>
              <a:t>Qualitative KPIs</a:t>
            </a:r>
          </a:p>
          <a:p>
            <a:pPr>
              <a:spcAft>
                <a:spcPts val="600"/>
              </a:spcAft>
              <a:defRPr sz="1600">
                <a:solidFill>
                  <a:srgbClr val="333333"/>
                </a:solidFill>
              </a:defRPr>
            </a:pPr>
            <a:r>
              <a:t>  Data Quality:</a:t>
            </a:r>
          </a:p>
          <a:p>
            <a:pPr lvl="1">
              <a:spcAft>
                <a:spcPts val="600"/>
              </a:spcAft>
              <a:defRPr sz="1200">
                <a:solidFill>
                  <a:srgbClr val="333333"/>
                </a:solidFill>
              </a:defRPr>
            </a:pPr>
            <a:r>
              <a:t>  • Expert validation: &gt;90% accuracy on sample review</a:t>
            </a:r>
          </a:p>
          <a:p>
            <a:pPr lvl="1">
              <a:spcAft>
                <a:spcPts val="600"/>
              </a:spcAft>
              <a:defRPr sz="1200">
                <a:solidFill>
                  <a:srgbClr val="333333"/>
                </a:solidFill>
              </a:defRPr>
            </a:pPr>
            <a:r>
              <a:t>  • Source reliability: Average 4+ stars</a:t>
            </a:r>
          </a:p>
          <a:p>
            <a:pPr lvl="1">
              <a:spcAft>
                <a:spcPts val="600"/>
              </a:spcAft>
              <a:defRPr sz="1200">
                <a:solidFill>
                  <a:srgbClr val="333333"/>
                </a:solidFill>
              </a:defRPr>
            </a:pPr>
            <a:r>
              <a:t>  • User feedback: &gt;4.0/5.0 satisfaction</a:t>
            </a:r>
          </a:p>
          <a:p>
            <a:pPr>
              <a:spcAft>
                <a:spcPts val="600"/>
              </a:spcAft>
              <a:defRPr sz="1600">
                <a:solidFill>
                  <a:srgbClr val="333333"/>
                </a:solidFill>
              </a:defRPr>
            </a:pPr>
            <a:r>
              <a:t>  Impact: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Next Steps and Recommendations</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Immediate Actions (Week 1-4)</a:t>
            </a:r>
          </a:p>
          <a:p>
            <a:pPr>
              <a:spcAft>
                <a:spcPts val="600"/>
              </a:spcAft>
              <a:defRPr sz="1600" b="1">
                <a:solidFill>
                  <a:srgbClr val="333333"/>
                </a:solidFill>
              </a:defRPr>
            </a:pPr>
            <a:r>
              <a:t>  1. Prioritize Tier 1 sources - Begin with Kenya, Singapore, Germany</a:t>
            </a:r>
          </a:p>
          <a:p>
            <a:pPr>
              <a:spcAft>
                <a:spcPts val="600"/>
              </a:spcAft>
              <a:defRPr sz="1600" b="1">
                <a:solidFill>
                  <a:srgbClr val="333333"/>
                </a:solidFill>
              </a:defRPr>
            </a:pPr>
            <a:r>
              <a:t>  2. Legal review - Confirm ToS compliance for top 20 sources</a:t>
            </a:r>
          </a:p>
          <a:p>
            <a:pPr>
              <a:spcAft>
                <a:spcPts val="600"/>
              </a:spcAft>
              <a:defRPr sz="1600" b="1">
                <a:solidFill>
                  <a:srgbClr val="333333"/>
                </a:solidFill>
              </a:defRPr>
            </a:pPr>
            <a:r>
              <a:t>  3. Technology selection - Finalize scraping framework and infrastructure</a:t>
            </a:r>
          </a:p>
          <a:p>
            <a:pPr>
              <a:spcAft>
                <a:spcPts val="600"/>
              </a:spcAft>
              <a:defRPr sz="1600" b="1">
                <a:solidFill>
                  <a:srgbClr val="333333"/>
                </a:solidFill>
              </a:defRPr>
            </a:pPr>
            <a:r>
              <a:t>  4. Team assembly - Hire or assign key personnel</a:t>
            </a:r>
          </a:p>
          <a:p>
            <a:pPr>
              <a:spcAft>
                <a:spcPts val="600"/>
              </a:spcAft>
              <a:defRPr sz="1600" b="1">
                <a:solidFill>
                  <a:srgbClr val="333333"/>
                </a:solidFill>
              </a:defRPr>
            </a:pPr>
            <a:r>
              <a:t>  5. Pilot launch - Extract first 10,000 records to validate approach</a:t>
            </a:r>
          </a:p>
          <a:p>
            <a:pPr>
              <a:spcAft>
                <a:spcPts val="600"/>
              </a:spcAft>
              <a:defRPr sz="1600">
                <a:solidFill>
                  <a:srgbClr val="333333"/>
                </a:solidFill>
              </a:defRPr>
            </a:pPr>
            <a:r>
              <a:t>Short-term (Month 2-6)</a:t>
            </a:r>
          </a:p>
          <a:p>
            <a:pPr>
              <a:spcAft>
                <a:spcPts val="600"/>
              </a:spcAft>
              <a:defRPr sz="1600" b="1">
                <a:solidFill>
                  <a:srgbClr val="333333"/>
                </a:solidFill>
              </a:defRPr>
            </a:pPr>
            <a:r>
              <a:t>  1. Scale Tier 1 collection - Deploy all high-priority scrapers</a:t>
            </a:r>
          </a:p>
          <a:p>
            <a:pPr>
              <a:spcAft>
                <a:spcPts val="600"/>
              </a:spcAft>
              <a:defRPr sz="1600" b="1">
                <a:solidFill>
                  <a:srgbClr val="333333"/>
                </a:solidFill>
              </a:defRPr>
            </a:pPr>
            <a:r>
              <a:t>  2. Build data pipeline - Standardization and quality assurance</a:t>
            </a:r>
          </a:p>
          <a:p>
            <a:pPr>
              <a:spcAft>
                <a:spcPts val="600"/>
              </a:spcAft>
              <a:defRPr sz="1600" b="1">
                <a:solidFill>
                  <a:srgbClr val="333333"/>
                </a:solidFill>
              </a:defRPr>
            </a:pPr>
            <a:r>
              <a:t>  3. Develop analytics - Initial trend analysis and benchmarking</a:t>
            </a:r>
          </a:p>
          <a:p>
            <a:pPr>
              <a:spcAft>
                <a:spcPts val="600"/>
              </a:spcAft>
              <a:defRPr sz="1600" b="1">
                <a:solidFill>
                  <a:srgbClr val="333333"/>
                </a:solidFill>
              </a:defRPr>
            </a:pPr>
            <a:r>
              <a:t>  4. Partner engagement - Identify early adopters and beta testers</a:t>
            </a:r>
          </a:p>
          <a:p>
            <a:pPr>
              <a:spcAft>
                <a:spcPts val="600"/>
              </a:spcAft>
              <a:defRPr sz="1600" b="1">
                <a:solidFill>
                  <a:srgbClr val="333333"/>
                </a:solidFill>
              </a:defRPr>
            </a:pPr>
            <a:r>
              <a:t>  5. Continuous improvement - Refine based on pilot learnings</a:t>
            </a:r>
          </a:p>
          <a:p>
            <a:pPr>
              <a:spcAft>
                <a:spcPts val="600"/>
              </a:spcAft>
              <a:defRPr sz="1600">
                <a:solidFill>
                  <a:srgbClr val="333333"/>
                </a:solidFill>
              </a:defRPr>
            </a:pPr>
            <a:r>
              <a:t>Medium-term (Month 7-12)</a:t>
            </a:r>
          </a:p>
          <a:p>
            <a:pPr>
              <a:spcAft>
                <a:spcPts val="600"/>
              </a:spcAft>
              <a:defRPr sz="1600" b="1">
                <a:solidFill>
                  <a:srgbClr val="333333"/>
                </a:solidFill>
              </a:defRPr>
            </a:pPr>
            <a:r>
              <a:t>  1. Expand to Tier 2-3 - Broader geographic coverage</a:t>
            </a:r>
          </a:p>
          <a:p>
            <a:pPr>
              <a:spcAft>
                <a:spcPts val="600"/>
              </a:spcAft>
              <a:defRPr sz="1600" b="1">
                <a:solidFill>
                  <a:srgbClr val="333333"/>
                </a:solidFill>
              </a:defRPr>
            </a:pPr>
            <a:r>
              <a:t>  2. Product development - API, dashboard, analytics tools</a:t>
            </a:r>
          </a:p>
          <a:p>
            <a:pPr>
              <a:spcAft>
                <a:spcPts val="600"/>
              </a:spcAft>
              <a:defRPr sz="1600" b="1">
                <a:solidFill>
                  <a:srgbClr val="333333"/>
                </a:solidFill>
              </a:defRPr>
            </a:pPr>
            <a:r>
              <a:t>  3. Research output - Publish initial findings</a:t>
            </a:r>
          </a:p>
          <a:p>
            <a:pPr>
              <a:spcAft>
                <a:spcPts val="600"/>
              </a:spcAft>
              <a:defRPr sz="1600" b="1">
                <a:solidFill>
                  <a:srgbClr val="333333"/>
                </a:solidFill>
              </a:defRPr>
            </a:pPr>
            <a:r>
              <a:t>  4. Commercial strategy - Pricing, licensing, partnerships</a:t>
            </a:r>
          </a:p>
          <a:p>
            <a:pPr>
              <a:spcAft>
                <a:spcPts val="600"/>
              </a:spcAft>
              <a:defRPr sz="1600" b="1">
                <a:solidFill>
                  <a:srgbClr val="333333"/>
                </a:solidFill>
              </a:defRPr>
            </a:pPr>
            <a:r>
              <a:t>  5. Sustainability planning - Ongoing maintenance and updates</a:t>
            </a:r>
          </a:p>
          <a:p>
            <a:pPr>
              <a:spcAft>
                <a:spcPts val="600"/>
              </a:spcAft>
              <a:defRPr sz="1600">
                <a:solidFill>
                  <a:srgbClr val="333333"/>
                </a:solidFill>
              </a:defRPr>
            </a:pPr>
            <a:r>
              <a:t>Long-term (Year 2+)</a:t>
            </a:r>
          </a:p>
          <a:p>
            <a:pPr>
              <a:spcAft>
                <a:spcPts val="600"/>
              </a:spcAft>
              <a:defRPr sz="1600" b="1">
                <a:solidFill>
                  <a:srgbClr val="333333"/>
                </a:solidFill>
              </a:defRPr>
            </a:pPr>
            <a:r>
              <a:t>  1. Full global coverage - Add remaining jurisdictions</a:t>
            </a:r>
          </a:p>
          <a:p>
            <a:pPr>
              <a:spcAft>
                <a:spcPts val="600"/>
              </a:spcAft>
              <a:defRPr sz="1600" b="1">
                <a:solidFill>
                  <a:srgbClr val="333333"/>
                </a:solidFill>
              </a:defRPr>
            </a:pPr>
            <a:r>
              <a:t>  2. Historical depth - Backfill earlier records where valuable</a:t>
            </a:r>
          </a:p>
          <a:p>
            <a:pPr>
              <a:spcAft>
                <a:spcPts val="600"/>
              </a:spcAft>
              <a:defRPr sz="1600" b="1">
                <a:solidFill>
                  <a:srgbClr val="333333"/>
                </a:solidFill>
              </a:defRPr>
            </a:pPr>
            <a:r>
              <a:t>  3. Advanced analytics - ML models, prediction tools</a:t>
            </a:r>
          </a:p>
          <a:p>
            <a:pPr>
              <a:spcAft>
                <a:spcPts val="600"/>
              </a:spcAft>
              <a:defRPr sz="1600" b="1">
                <a:solidFill>
                  <a:srgbClr val="333333"/>
                </a:solidFill>
              </a:defRPr>
            </a:pPr>
            <a:r>
              <a:t>  4. Market expansion - New use cases and customer segments</a:t>
            </a:r>
          </a:p>
          <a:p>
            <a:pPr>
              <a:spcAft>
                <a:spcPts val="600"/>
              </a:spcAft>
              <a:defRPr sz="1600" b="1">
                <a:solidFill>
                  <a:srgbClr val="333333"/>
                </a:solidFill>
              </a:defRPr>
            </a:pPr>
            <a:r>
              <a:t>  5. Ecosystem development - Data sharing, academic collaborations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Conclusion</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Key Findings Summary</a:t>
            </a:r>
          </a:p>
          <a:p>
            <a:pPr>
              <a:spcAft>
                <a:spcPts val="600"/>
              </a:spcAft>
              <a:defRPr sz="1600" b="1">
                <a:solidFill>
                  <a:srgbClr val="333333"/>
                </a:solidFill>
              </a:defRPr>
            </a:pPr>
            <a:r>
              <a:t>1. Massive Opportunity: 5-7M+ legal fee records available across 105+ jurisdictions</a:t>
            </a:r>
          </a:p>
          <a:p>
            <a:pPr>
              <a:spcAft>
                <a:spcPts val="600"/>
              </a:spcAft>
              <a:defRPr sz="1600" b="1">
                <a:solidFill>
                  <a:srgbClr val="333333"/>
                </a:solidFill>
              </a:defRPr>
            </a:pPr>
            <a:r>
              <a:t>2. Variable Accessibility: 20% high scrapability (60%+), 40% medium (30-60%), 40% low (&lt;30%)</a:t>
            </a:r>
          </a:p>
          <a:p>
            <a:pPr>
              <a:spcAft>
                <a:spcPts val="600"/>
              </a:spcAft>
              <a:defRPr sz="1600" b="1">
                <a:solidFill>
                  <a:srgbClr val="333333"/>
                </a:solidFill>
              </a:defRPr>
            </a:pPr>
            <a:r>
              <a:t>3. Geographic Strengths: Europe and Africa (especially SAFLII network) offer best immediate opportunities</a:t>
            </a:r>
          </a:p>
          <a:p>
            <a:pPr>
              <a:spcAft>
                <a:spcPts val="600"/>
              </a:spcAft>
              <a:defRPr sz="1600" b="1">
                <a:solidFill>
                  <a:srgbClr val="333333"/>
                </a:solidFill>
              </a:defRPr>
            </a:pPr>
            <a:r>
              <a:t>4. Technical Feasibility: APIs and structured data available for ~20% of sources; 80% require custom scraping</a:t>
            </a:r>
          </a:p>
          <a:p>
            <a:pPr>
              <a:spcAft>
                <a:spcPts val="600"/>
              </a:spcAft>
              <a:defRPr sz="1600" b="1">
                <a:solidFill>
                  <a:srgbClr val="333333"/>
                </a:solidFill>
              </a:defRPr>
            </a:pPr>
            <a:r>
              <a:t>5. Market Gap: No comprehensive global legal fee database currently exists</a:t>
            </a:r>
          </a:p>
          <a:p>
            <a:pPr>
              <a:spcAft>
                <a:spcPts val="600"/>
              </a:spcAft>
              <a:defRPr sz="1600">
                <a:solidFill>
                  <a:srgbClr val="333333"/>
                </a:solidFill>
              </a:defRPr>
            </a:pPr>
            <a:r>
              <a:t>Strategic Recommendation</a:t>
            </a:r>
          </a:p>
          <a:p>
            <a:pPr>
              <a:spcAft>
                <a:spcPts val="600"/>
              </a:spcAft>
              <a:defRPr sz="1600" b="1">
                <a:solidFill>
                  <a:srgbClr val="333333"/>
                </a:solidFill>
              </a:defRPr>
            </a:pPr>
            <a:r>
              <a:t>Proceed with phased implementation:</a:t>
            </a:r>
          </a:p>
          <a:p>
            <a:pPr>
              <a:spcAft>
                <a:spcPts val="600"/>
              </a:spcAft>
              <a:defRPr sz="1600">
                <a:solidFill>
                  <a:srgbClr val="333333"/>
                </a:solidFill>
              </a:defRPr>
            </a:pPr>
            <a:r>
              <a:t>  - Start with Tier 1 high-value sources (Kenya, Singapore, Germany, US Federal, South Africa)</a:t>
            </a:r>
          </a:p>
          <a:p>
            <a:pPr>
              <a:spcAft>
                <a:spcPts val="600"/>
              </a:spcAft>
              <a:defRPr sz="1600">
                <a:solidFill>
                  <a:srgbClr val="333333"/>
                </a:solidFill>
              </a:defRPr>
            </a:pPr>
            <a:r>
              <a:t>  - Build robust infrastructure for Tier 2 expansion</a:t>
            </a:r>
          </a:p>
          <a:p>
            <a:pPr>
              <a:spcAft>
                <a:spcPts val="600"/>
              </a:spcAft>
              <a:defRPr sz="1600">
                <a:solidFill>
                  <a:srgbClr val="333333"/>
                </a:solidFill>
              </a:defRPr>
            </a:pPr>
            <a:r>
              <a:t>  - Develop commercial product in parallel with data collection</a:t>
            </a:r>
          </a:p>
          <a:p>
            <a:pPr>
              <a:spcAft>
                <a:spcPts val="600"/>
              </a:spcAft>
              <a:defRPr sz="1600">
                <a:solidFill>
                  <a:srgbClr val="333333"/>
                </a:solidFill>
              </a:defRPr>
            </a:pPr>
            <a:r>
              <a:t>  - Maintain focus on data quality over quantity</a:t>
            </a:r>
          </a:p>
          <a:p>
            <a:pPr>
              <a:spcAft>
                <a:spcPts val="600"/>
              </a:spcAft>
              <a:defRPr sz="1600">
                <a:solidFill>
                  <a:srgbClr val="333333"/>
                </a:solidFill>
              </a:defRPr>
            </a:pPr>
            <a:r>
              <a:t>Expected Outcomes</a:t>
            </a:r>
          </a:p>
          <a:p>
            <a:pPr>
              <a:spcAft>
                <a:spcPts val="600"/>
              </a:spcAft>
              <a:defRPr sz="1600" b="1">
                <a:solidFill>
                  <a:srgbClr val="333333"/>
                </a:solidFill>
              </a:defRPr>
            </a:pPr>
            <a:r>
              <a:t>Year 1:</a:t>
            </a:r>
          </a:p>
          <a:p>
            <a:pPr>
              <a:spcAft>
                <a:spcPts val="600"/>
              </a:spcAft>
              <a:defRPr sz="1600">
                <a:solidFill>
                  <a:srgbClr val="333333"/>
                </a:solidFill>
              </a:defRPr>
            </a:pPr>
            <a:r>
              <a:t>  - 3M+ fee records collected</a:t>
            </a:r>
          </a:p>
          <a:p>
            <a:pPr>
              <a:spcAft>
                <a:spcPts val="600"/>
              </a:spcAft>
              <a:defRPr sz="1600">
                <a:solidFill>
                  <a:srgbClr val="333333"/>
                </a:solidFill>
              </a:defRPr>
            </a:pPr>
            <a:r>
              <a:t>  - 50+ jurisdictions with meaningful coverage</a:t>
            </a:r>
          </a:p>
          <a:p>
            <a:pPr>
              <a:spcAft>
                <a:spcPts val="600"/>
              </a:spcAft>
              <a:defRPr sz="1600">
                <a:solidFill>
                  <a:srgbClr val="333333"/>
                </a:solidFill>
              </a:defRPr>
            </a:pPr>
            <a:r>
              <a:t>  - Beta product launch</a:t>
            </a:r>
          </a:p>
          <a:p>
            <a:pPr>
              <a:spcAft>
                <a:spcPts val="600"/>
              </a:spcAft>
              <a:defRPr sz="1600">
                <a:solidFill>
                  <a:srgbClr val="333333"/>
                </a:solidFill>
              </a:defRPr>
            </a:pPr>
            <a:r>
              <a:t>  - Academic and policy impact initiated</a:t>
            </a:r>
          </a:p>
          <a:p>
            <a:pPr>
              <a:spcAft>
                <a:spcPts val="600"/>
              </a:spcAft>
              <a:defRPr sz="1600" b="1">
                <a:solidFill>
                  <a:srgbClr val="333333"/>
                </a:solidFill>
              </a:defRPr>
            </a:pPr>
            <a:r>
              <a:t>Year 2-3:</a:t>
            </a:r>
          </a:p>
          <a:p>
            <a:pPr>
              <a:spcAft>
                <a:spcPts val="600"/>
              </a:spcAft>
              <a:defRPr sz="1600">
                <a:solidFill>
                  <a:srgbClr val="333333"/>
                </a:solidFill>
              </a:defRPr>
            </a:pPr>
            <a:r>
              <a:t>  - 5-7M+ comprehensive global dataset</a:t>
            </a:r>
          </a:p>
          <a:p>
            <a:pPr>
              <a:spcAft>
                <a:spcPts val="600"/>
              </a:spcAft>
              <a:defRPr sz="1600">
                <a:solidFill>
                  <a:srgbClr val="333333"/>
                </a:solidFill>
              </a:defRPr>
            </a:pPr>
            <a:r>
              <a:t>  - Commercial product at scale</a:t>
            </a:r>
          </a:p>
          <a:p>
            <a:pPr>
              <a:spcAft>
                <a:spcPts val="600"/>
              </a:spcAft>
              <a:defRPr sz="1600">
                <a:solidFill>
                  <a:srgbClr val="333333"/>
                </a:solidFill>
              </a:defRPr>
            </a:pPr>
            <a:r>
              <a:t>  - Market leadership in legal fee analytics</a:t>
            </a:r>
          </a:p>
          <a:p>
            <a:pPr>
              <a:spcAft>
                <a:spcPts val="600"/>
              </a:spcAft>
              <a:defRPr sz="1600">
                <a:solidFill>
                  <a:srgbClr val="333333"/>
                </a:solidFill>
              </a:defRPr>
            </a:pPr>
            <a:r>
              <a:t>  - Self-sustaining revenue model</a:t>
            </a:r>
          </a:p>
          <a:p>
            <a:pPr>
              <a:spcAft>
                <a:spcPts val="600"/>
              </a:spcAft>
              <a:defRPr sz="1600">
                <a:solidFill>
                  <a:srgbClr val="333333"/>
                </a:solidFill>
              </a:defRPr>
            </a:pPr>
            <a:r>
              <a:t>Final Thought</a:t>
            </a:r>
          </a:p>
          <a:p>
            <a:pPr>
              <a:spcAft>
                <a:spcPts val="600"/>
              </a:spcAft>
              <a:defRPr sz="1600" b="1">
                <a:solidFill>
                  <a:srgbClr val="333333"/>
                </a:solidFill>
              </a:defRPr>
            </a:pPr>
            <a:r>
              <a:t>This research reveals an unprecedented opportunity to create the world's first comprehensive global legal fees database. With careful execution, this project can transform legal market transparency, support access to justice initiatives, and enable new generation of legal technology tools.</a:t>
            </a:r>
          </a:p>
          <a:p>
            <a:pPr>
              <a:spcAft>
                <a:spcPts val="600"/>
              </a:spcAft>
              <a:defRPr sz="1600" b="1">
                <a:solidFill>
                  <a:srgbClr val="333333"/>
                </a:solidFill>
              </a:defRPr>
            </a:pPr>
            <a:r>
              <a:t>The foundation is ready. The path is clear. The time to act is now.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lgn="l">
              <a:defRPr sz="3200" b="1">
                <a:solidFill>
                  <a:srgbClr val="003366"/>
                </a:solidFill>
              </a:defRPr>
            </a:pPr>
            <a:r>
              <a:t>Appendix: Source Links</a:t>
            </a:r>
          </a:p>
        </p:txBody>
      </p:sp>
      <p:sp>
        <p:nvSpPr>
          <p:cNvPr id="3" name="TextBox 2"/>
          <p:cNvSpPr txBox="1"/>
          <p:nvPr/>
        </p:nvSpPr>
        <p:spPr>
          <a:xfrm>
            <a:off x="457200" y="1371600"/>
            <a:ext cx="8229600" cy="5029200"/>
          </a:xfrm>
          <a:prstGeom prst="rect">
            <a:avLst/>
          </a:prstGeom>
          <a:noFill/>
        </p:spPr>
        <p:txBody>
          <a:bodyPr wrap="square">
            <a:spAutoFit/>
          </a:bodyPr>
          <a:lstStyle/>
          <a:p/>
          <a:p>
            <a:pPr>
              <a:spcAft>
                <a:spcPts val="600"/>
              </a:spcAft>
              <a:defRPr sz="1600">
                <a:solidFill>
                  <a:srgbClr val="333333"/>
                </a:solidFill>
              </a:defRPr>
            </a:pPr>
            <a:r>
              <a:t>Quick Reference - Top 20 Sources</a:t>
            </a:r>
          </a:p>
          <a:p>
            <a:pPr>
              <a:spcAft>
                <a:spcPts val="600"/>
              </a:spcAft>
              <a:defRPr sz="1600" b="1">
                <a:solidFill>
                  <a:srgbClr val="333333"/>
                </a:solidFill>
              </a:defRPr>
            </a:pPr>
            <a:r>
              <a:t>  1. Kenya Law: http://kenyalaw.org/ (300K cases, 75% scrapable)</a:t>
            </a:r>
          </a:p>
          <a:p>
            <a:pPr>
              <a:spcAft>
                <a:spcPts val="600"/>
              </a:spcAft>
              <a:defRPr sz="1600" b="1">
                <a:solidFill>
                  <a:srgbClr val="333333"/>
                </a:solidFill>
              </a:defRPr>
            </a:pPr>
            <a:r>
              <a:t>  2. SAFLII (South Africa): https://www.saflii.org/ (Comprehensive, 70% scrapable)</a:t>
            </a:r>
          </a:p>
          <a:p>
            <a:pPr>
              <a:spcAft>
                <a:spcPts val="600"/>
              </a:spcAft>
              <a:defRPr sz="1600" b="1">
                <a:solidFill>
                  <a:srgbClr val="333333"/>
                </a:solidFill>
              </a:defRPr>
            </a:pPr>
            <a:r>
              <a:t>  3. CourtListener (US): https://www.courtlistener.com/ (14M+ opinions, 80% scrapable)</a:t>
            </a:r>
          </a:p>
          <a:p>
            <a:pPr>
              <a:spcAft>
                <a:spcPts val="600"/>
              </a:spcAft>
              <a:defRPr sz="1600" b="1">
                <a:solidFill>
                  <a:srgbClr val="333333"/>
                </a:solidFill>
              </a:defRPr>
            </a:pPr>
            <a:r>
              <a:t>  4. BAILII (UK): https://www.bailii.org/ (95% scrapable - Costs section)</a:t>
            </a:r>
          </a:p>
          <a:p>
            <a:pPr>
              <a:spcAft>
                <a:spcPts val="600"/>
              </a:spcAft>
              <a:defRPr sz="1600" b="1">
                <a:solidFill>
                  <a:srgbClr val="333333"/>
                </a:solidFill>
              </a:defRPr>
            </a:pPr>
            <a:r>
              <a:t>  5. AustLII (Australia): https://www.austlii.edu.au/ (Comprehensive, 65% scrapable)</a:t>
            </a:r>
          </a:p>
          <a:p>
            <a:pPr>
              <a:spcAft>
                <a:spcPts val="600"/>
              </a:spcAft>
              <a:defRPr sz="1600">
                <a:solidFill>
                  <a:srgbClr val="333333"/>
                </a:solidFill>
              </a:defRPr>
            </a:pPr>
            <a:r>
              <a:t>Full Source List</a:t>
            </a:r>
          </a:p>
          <a:p>
            <a:pPr>
              <a:spcAft>
                <a:spcPts val="600"/>
              </a:spcAft>
              <a:defRPr sz="1600">
                <a:solidFill>
                  <a:srgbClr val="333333"/>
                </a:solidFill>
              </a:defRPr>
            </a:pPr>
            <a:r>
              <a:t>  See legal_fees_research_organized.md for complete details on all 125+ sources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371600"/>
            <a:ext cx="8229600" cy="5029200"/>
          </a:xfrm>
          <a:prstGeom prst="rect">
            <a:avLst/>
          </a:prstGeom>
          <a:noFill/>
        </p:spPr>
        <p:txBody>
          <a:bodyPr wrap="square">
            <a:spAutoFit/>
          </a:bodyPr>
          <a:lstStyle/>
          <a:p>
            <a:pPr>
              <a:spcAft>
                <a:spcPts val="600"/>
              </a:spcAft>
              <a:defRPr sz="1600">
                <a:solidFill>
                  <a:srgbClr val="333333"/>
                </a:solidFill>
              </a:defRPr>
            </a:pPr>
            <a:r>
              <a:t>End of Presentation</a:t>
            </a:r>
          </a:p>
          <a:p>
            <a:pPr>
              <a:spcAft>
                <a:spcPts val="600"/>
              </a:spcAft>
              <a:defRPr sz="1600">
                <a:solidFill>
                  <a:srgbClr val="333333"/>
                </a:solidFill>
              </a:defRPr>
            </a:pPr>
            <a:r>
              <a:t>For questions or further information, please refer to the complete research document:</a:t>
            </a:r>
          </a:p>
          <a:p>
            <a:pPr>
              <a:spcAft>
                <a:spcPts val="600"/>
              </a:spcAft>
              <a:defRPr sz="1600">
                <a:solidFill>
                  <a:srgbClr val="333333"/>
                </a:solidFill>
              </a:defRPr>
            </a:pPr>
            <a:r>
              <a:t>legal_fees_research_organized.md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